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7"/>
  </p:notesMasterIdLst>
  <p:handoutMasterIdLst>
    <p:handoutMasterId r:id="rId48"/>
  </p:handoutMasterIdLst>
  <p:sldIdLst>
    <p:sldId id="292" r:id="rId2"/>
    <p:sldId id="318" r:id="rId3"/>
    <p:sldId id="320" r:id="rId4"/>
    <p:sldId id="321" r:id="rId5"/>
    <p:sldId id="322" r:id="rId6"/>
    <p:sldId id="323" r:id="rId7"/>
    <p:sldId id="335" r:id="rId8"/>
    <p:sldId id="324" r:id="rId9"/>
    <p:sldId id="325" r:id="rId10"/>
    <p:sldId id="403" r:id="rId11"/>
    <p:sldId id="329" r:id="rId12"/>
    <p:sldId id="399" r:id="rId13"/>
    <p:sldId id="400" r:id="rId14"/>
    <p:sldId id="402" r:id="rId15"/>
    <p:sldId id="330" r:id="rId16"/>
    <p:sldId id="348" r:id="rId17"/>
    <p:sldId id="349" r:id="rId18"/>
    <p:sldId id="378" r:id="rId19"/>
    <p:sldId id="353" r:id="rId20"/>
    <p:sldId id="354" r:id="rId21"/>
    <p:sldId id="401" r:id="rId22"/>
    <p:sldId id="356" r:id="rId23"/>
    <p:sldId id="336" r:id="rId24"/>
    <p:sldId id="337" r:id="rId25"/>
    <p:sldId id="338" r:id="rId26"/>
    <p:sldId id="339" r:id="rId27"/>
    <p:sldId id="340" r:id="rId28"/>
    <p:sldId id="404" r:id="rId29"/>
    <p:sldId id="327" r:id="rId30"/>
    <p:sldId id="328" r:id="rId31"/>
    <p:sldId id="383" r:id="rId32"/>
    <p:sldId id="384" r:id="rId33"/>
    <p:sldId id="387" r:id="rId34"/>
    <p:sldId id="391" r:id="rId35"/>
    <p:sldId id="385" r:id="rId36"/>
    <p:sldId id="389" r:id="rId37"/>
    <p:sldId id="392" r:id="rId38"/>
    <p:sldId id="390" r:id="rId39"/>
    <p:sldId id="393" r:id="rId40"/>
    <p:sldId id="394" r:id="rId41"/>
    <p:sldId id="397" r:id="rId42"/>
    <p:sldId id="395" r:id="rId43"/>
    <p:sldId id="398" r:id="rId44"/>
    <p:sldId id="396" r:id="rId45"/>
    <p:sldId id="379" r:id="rId46"/>
  </p:sldIdLst>
  <p:sldSz cx="9144000" cy="6858000" type="screen4x3"/>
  <p:notesSz cx="7026275" cy="93122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61" d="100"/>
          <a:sy n="61" d="100"/>
        </p:scale>
        <p:origin x="78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3044825" cy="465138"/>
          </a:xfrm>
          <a:prstGeom prst="rect">
            <a:avLst/>
          </a:prstGeom>
          <a:noFill/>
          <a:ln w="9525">
            <a:noFill/>
            <a:miter lim="800000"/>
            <a:headEnd/>
            <a:tailEnd/>
          </a:ln>
          <a:effectLst/>
        </p:spPr>
        <p:txBody>
          <a:bodyPr vert="horz" wrap="square" lIns="93360" tIns="46680" rIns="93360" bIns="46680" numCol="1" anchor="t" anchorCtr="0" compatLnSpc="1">
            <a:prstTxWarp prst="textNoShape">
              <a:avLst/>
            </a:prstTxWarp>
          </a:bodyPr>
          <a:lstStyle>
            <a:lvl1pPr defTabSz="933450" eaLnBrk="0" hangingPunct="0">
              <a:defRPr sz="1200" smtClean="0"/>
            </a:lvl1pPr>
          </a:lstStyle>
          <a:p>
            <a:pPr>
              <a:defRPr/>
            </a:pPr>
            <a:endParaRPr lang="en-CA"/>
          </a:p>
        </p:txBody>
      </p:sp>
      <p:sp>
        <p:nvSpPr>
          <p:cNvPr id="99331" name="Rectangle 3"/>
          <p:cNvSpPr>
            <a:spLocks noGrp="1" noChangeArrowheads="1"/>
          </p:cNvSpPr>
          <p:nvPr>
            <p:ph type="dt" sz="quarter" idx="1"/>
          </p:nvPr>
        </p:nvSpPr>
        <p:spPr bwMode="auto">
          <a:xfrm>
            <a:off x="3981450" y="0"/>
            <a:ext cx="3044825" cy="465138"/>
          </a:xfrm>
          <a:prstGeom prst="rect">
            <a:avLst/>
          </a:prstGeom>
          <a:noFill/>
          <a:ln w="9525">
            <a:noFill/>
            <a:miter lim="800000"/>
            <a:headEnd/>
            <a:tailEnd/>
          </a:ln>
          <a:effectLst/>
        </p:spPr>
        <p:txBody>
          <a:bodyPr vert="horz" wrap="square" lIns="93360" tIns="46680" rIns="93360" bIns="46680" numCol="1" anchor="t" anchorCtr="0" compatLnSpc="1">
            <a:prstTxWarp prst="textNoShape">
              <a:avLst/>
            </a:prstTxWarp>
          </a:bodyPr>
          <a:lstStyle>
            <a:lvl1pPr algn="r" defTabSz="933450" eaLnBrk="0" hangingPunct="0">
              <a:defRPr sz="1200" smtClean="0"/>
            </a:lvl1pPr>
          </a:lstStyle>
          <a:p>
            <a:pPr>
              <a:defRPr/>
            </a:pPr>
            <a:endParaRPr lang="en-CA"/>
          </a:p>
        </p:txBody>
      </p:sp>
      <p:sp>
        <p:nvSpPr>
          <p:cNvPr id="99332" name="Rectangle 4"/>
          <p:cNvSpPr>
            <a:spLocks noGrp="1" noChangeArrowheads="1"/>
          </p:cNvSpPr>
          <p:nvPr>
            <p:ph type="ftr" sz="quarter" idx="2"/>
          </p:nvPr>
        </p:nvSpPr>
        <p:spPr bwMode="auto">
          <a:xfrm>
            <a:off x="0" y="8847138"/>
            <a:ext cx="3044825" cy="465137"/>
          </a:xfrm>
          <a:prstGeom prst="rect">
            <a:avLst/>
          </a:prstGeom>
          <a:noFill/>
          <a:ln w="9525">
            <a:noFill/>
            <a:miter lim="800000"/>
            <a:headEnd/>
            <a:tailEnd/>
          </a:ln>
          <a:effectLst/>
        </p:spPr>
        <p:txBody>
          <a:bodyPr vert="horz" wrap="square" lIns="93360" tIns="46680" rIns="93360" bIns="46680" numCol="1" anchor="b" anchorCtr="0" compatLnSpc="1">
            <a:prstTxWarp prst="textNoShape">
              <a:avLst/>
            </a:prstTxWarp>
          </a:bodyPr>
          <a:lstStyle>
            <a:lvl1pPr defTabSz="933450" eaLnBrk="0" hangingPunct="0">
              <a:defRPr sz="1200" smtClean="0"/>
            </a:lvl1pPr>
          </a:lstStyle>
          <a:p>
            <a:pPr>
              <a:defRPr/>
            </a:pPr>
            <a:endParaRPr lang="en-CA"/>
          </a:p>
        </p:txBody>
      </p:sp>
      <p:sp>
        <p:nvSpPr>
          <p:cNvPr id="99333" name="Rectangle 5"/>
          <p:cNvSpPr>
            <a:spLocks noGrp="1" noChangeArrowheads="1"/>
          </p:cNvSpPr>
          <p:nvPr>
            <p:ph type="sldNum" sz="quarter" idx="3"/>
          </p:nvPr>
        </p:nvSpPr>
        <p:spPr bwMode="auto">
          <a:xfrm>
            <a:off x="3981450" y="8847138"/>
            <a:ext cx="3044825" cy="465137"/>
          </a:xfrm>
          <a:prstGeom prst="rect">
            <a:avLst/>
          </a:prstGeom>
          <a:noFill/>
          <a:ln w="9525">
            <a:noFill/>
            <a:miter lim="800000"/>
            <a:headEnd/>
            <a:tailEnd/>
          </a:ln>
          <a:effectLst/>
        </p:spPr>
        <p:txBody>
          <a:bodyPr vert="horz" wrap="square" lIns="93360" tIns="46680" rIns="93360" bIns="46680" numCol="1" anchor="b" anchorCtr="0" compatLnSpc="1">
            <a:prstTxWarp prst="textNoShape">
              <a:avLst/>
            </a:prstTxWarp>
          </a:bodyPr>
          <a:lstStyle>
            <a:lvl1pPr algn="r" defTabSz="933450" eaLnBrk="0" hangingPunct="0">
              <a:defRPr sz="1200" smtClean="0"/>
            </a:lvl1pPr>
          </a:lstStyle>
          <a:p>
            <a:pPr>
              <a:defRPr/>
            </a:pPr>
            <a:fld id="{8B906470-2D9F-4E24-8C18-D5A51554DC60}" type="slidenum">
              <a:rPr lang="en-CA"/>
              <a:pPr>
                <a:defRPr/>
              </a:pPr>
              <a:t>‹#›</a:t>
            </a:fld>
            <a:endParaRPr lang="en-CA"/>
          </a:p>
        </p:txBody>
      </p:sp>
    </p:spTree>
    <p:extLst>
      <p:ext uri="{BB962C8B-B14F-4D97-AF65-F5344CB8AC3E}">
        <p14:creationId xmlns:p14="http://schemas.microsoft.com/office/powerpoint/2010/main" val="787188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3044825" cy="465138"/>
          </a:xfrm>
          <a:prstGeom prst="rect">
            <a:avLst/>
          </a:prstGeom>
          <a:noFill/>
          <a:ln w="9525">
            <a:noFill/>
            <a:miter lim="800000"/>
            <a:headEnd/>
            <a:tailEnd/>
          </a:ln>
          <a:effectLst/>
        </p:spPr>
        <p:txBody>
          <a:bodyPr vert="horz" wrap="square" lIns="93360" tIns="46680" rIns="93360" bIns="46680" numCol="1" anchor="t" anchorCtr="0" compatLnSpc="1">
            <a:prstTxWarp prst="textNoShape">
              <a:avLst/>
            </a:prstTxWarp>
          </a:bodyPr>
          <a:lstStyle>
            <a:lvl1pPr defTabSz="933450">
              <a:defRPr sz="1200" smtClean="0"/>
            </a:lvl1pPr>
          </a:lstStyle>
          <a:p>
            <a:pPr>
              <a:defRPr/>
            </a:pPr>
            <a:endParaRPr lang="en-US"/>
          </a:p>
        </p:txBody>
      </p:sp>
      <p:sp>
        <p:nvSpPr>
          <p:cNvPr id="57347" name="Rectangle 3"/>
          <p:cNvSpPr>
            <a:spLocks noGrp="1" noChangeArrowheads="1"/>
          </p:cNvSpPr>
          <p:nvPr>
            <p:ph type="dt" idx="1"/>
          </p:nvPr>
        </p:nvSpPr>
        <p:spPr bwMode="auto">
          <a:xfrm>
            <a:off x="3979863" y="0"/>
            <a:ext cx="3044825" cy="465138"/>
          </a:xfrm>
          <a:prstGeom prst="rect">
            <a:avLst/>
          </a:prstGeom>
          <a:noFill/>
          <a:ln w="9525">
            <a:noFill/>
            <a:miter lim="800000"/>
            <a:headEnd/>
            <a:tailEnd/>
          </a:ln>
          <a:effectLst/>
        </p:spPr>
        <p:txBody>
          <a:bodyPr vert="horz" wrap="square" lIns="93360" tIns="46680" rIns="93360" bIns="46680" numCol="1" anchor="t" anchorCtr="0" compatLnSpc="1">
            <a:prstTxWarp prst="textNoShape">
              <a:avLst/>
            </a:prstTxWarp>
          </a:bodyPr>
          <a:lstStyle>
            <a:lvl1pPr algn="r" defTabSz="933450">
              <a:defRPr sz="1200" smtClean="0"/>
            </a:lvl1pPr>
          </a:lstStyle>
          <a:p>
            <a:pPr>
              <a:defRPr/>
            </a:pPr>
            <a:endParaRPr lang="en-US"/>
          </a:p>
        </p:txBody>
      </p:sp>
      <p:sp>
        <p:nvSpPr>
          <p:cNvPr id="53252" name="Rectangle 4"/>
          <p:cNvSpPr>
            <a:spLocks noGrp="1" noRot="1" noChangeAspect="1" noChangeArrowheads="1" noTextEdit="1"/>
          </p:cNvSpPr>
          <p:nvPr>
            <p:ph type="sldImg" idx="2"/>
          </p:nvPr>
        </p:nvSpPr>
        <p:spPr bwMode="auto">
          <a:xfrm>
            <a:off x="1185863" y="698500"/>
            <a:ext cx="4656137" cy="3492500"/>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703263" y="4422775"/>
            <a:ext cx="5619750" cy="4191000"/>
          </a:xfrm>
          <a:prstGeom prst="rect">
            <a:avLst/>
          </a:prstGeom>
          <a:noFill/>
          <a:ln w="9525">
            <a:noFill/>
            <a:miter lim="800000"/>
            <a:headEnd/>
            <a:tailEnd/>
          </a:ln>
          <a:effectLst/>
        </p:spPr>
        <p:txBody>
          <a:bodyPr vert="horz" wrap="square" lIns="93360" tIns="46680" rIns="93360" bIns="4668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7350" name="Rectangle 6"/>
          <p:cNvSpPr>
            <a:spLocks noGrp="1" noChangeArrowheads="1"/>
          </p:cNvSpPr>
          <p:nvPr>
            <p:ph type="ftr" sz="quarter" idx="4"/>
          </p:nvPr>
        </p:nvSpPr>
        <p:spPr bwMode="auto">
          <a:xfrm>
            <a:off x="0" y="8845550"/>
            <a:ext cx="3044825" cy="465138"/>
          </a:xfrm>
          <a:prstGeom prst="rect">
            <a:avLst/>
          </a:prstGeom>
          <a:noFill/>
          <a:ln w="9525">
            <a:noFill/>
            <a:miter lim="800000"/>
            <a:headEnd/>
            <a:tailEnd/>
          </a:ln>
          <a:effectLst/>
        </p:spPr>
        <p:txBody>
          <a:bodyPr vert="horz" wrap="square" lIns="93360" tIns="46680" rIns="93360" bIns="46680" numCol="1" anchor="b" anchorCtr="0" compatLnSpc="1">
            <a:prstTxWarp prst="textNoShape">
              <a:avLst/>
            </a:prstTxWarp>
          </a:bodyPr>
          <a:lstStyle>
            <a:lvl1pPr defTabSz="933450">
              <a:defRPr sz="1200" smtClean="0"/>
            </a:lvl1pPr>
          </a:lstStyle>
          <a:p>
            <a:pPr>
              <a:defRPr/>
            </a:pPr>
            <a:endParaRPr lang="en-US"/>
          </a:p>
        </p:txBody>
      </p:sp>
      <p:sp>
        <p:nvSpPr>
          <p:cNvPr id="57351" name="Rectangle 7"/>
          <p:cNvSpPr>
            <a:spLocks noGrp="1" noChangeArrowheads="1"/>
          </p:cNvSpPr>
          <p:nvPr>
            <p:ph type="sldNum" sz="quarter" idx="5"/>
          </p:nvPr>
        </p:nvSpPr>
        <p:spPr bwMode="auto">
          <a:xfrm>
            <a:off x="3979863" y="8845550"/>
            <a:ext cx="3044825" cy="465138"/>
          </a:xfrm>
          <a:prstGeom prst="rect">
            <a:avLst/>
          </a:prstGeom>
          <a:noFill/>
          <a:ln w="9525">
            <a:noFill/>
            <a:miter lim="800000"/>
            <a:headEnd/>
            <a:tailEnd/>
          </a:ln>
          <a:effectLst/>
        </p:spPr>
        <p:txBody>
          <a:bodyPr vert="horz" wrap="square" lIns="93360" tIns="46680" rIns="93360" bIns="46680" numCol="1" anchor="b" anchorCtr="0" compatLnSpc="1">
            <a:prstTxWarp prst="textNoShape">
              <a:avLst/>
            </a:prstTxWarp>
          </a:bodyPr>
          <a:lstStyle>
            <a:lvl1pPr algn="r" defTabSz="933450">
              <a:defRPr sz="1200" smtClean="0"/>
            </a:lvl1pPr>
          </a:lstStyle>
          <a:p>
            <a:pPr>
              <a:defRPr/>
            </a:pPr>
            <a:fld id="{D9DEE8F4-AB28-4E2C-B288-C296D41784EC}" type="slidenum">
              <a:rPr lang="en-US"/>
              <a:pPr>
                <a:defRPr/>
              </a:pPr>
              <a:t>‹#›</a:t>
            </a:fld>
            <a:endParaRPr lang="en-US"/>
          </a:p>
        </p:txBody>
      </p:sp>
    </p:spTree>
    <p:extLst>
      <p:ext uri="{BB962C8B-B14F-4D97-AF65-F5344CB8AC3E}">
        <p14:creationId xmlns:p14="http://schemas.microsoft.com/office/powerpoint/2010/main" val="31945776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9DEE8F4-AB28-4E2C-B288-C296D41784EC}" type="slidenum">
              <a:rPr lang="en-US" smtClean="0"/>
              <a:pPr>
                <a:defRPr/>
              </a:pPr>
              <a:t>27</a:t>
            </a:fld>
            <a:endParaRPr lang="en-US"/>
          </a:p>
        </p:txBody>
      </p:sp>
    </p:spTree>
    <p:extLst>
      <p:ext uri="{BB962C8B-B14F-4D97-AF65-F5344CB8AC3E}">
        <p14:creationId xmlns:p14="http://schemas.microsoft.com/office/powerpoint/2010/main" val="794744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
          <p:cNvSpPr>
            <a:spLocks noChangeArrowheads="1"/>
          </p:cNvSpPr>
          <p:nvPr/>
        </p:nvSpPr>
        <p:spPr bwMode="auto">
          <a:xfrm>
            <a:off x="228600" y="381000"/>
            <a:ext cx="8686800" cy="5638800"/>
          </a:xfrm>
          <a:prstGeom prst="roundRect">
            <a:avLst>
              <a:gd name="adj" fmla="val 7912"/>
            </a:avLst>
          </a:prstGeom>
          <a:solidFill>
            <a:schemeClr val="folHlink"/>
          </a:solidFill>
          <a:ln w="9525">
            <a:noFill/>
            <a:round/>
            <a:headEnd/>
            <a:tailEnd/>
          </a:ln>
          <a:effectLst/>
        </p:spPr>
        <p:txBody>
          <a:bodyPr wrap="none" anchor="ctr"/>
          <a:lstStyle/>
          <a:p>
            <a:pPr algn="ctr">
              <a:defRPr/>
            </a:pPr>
            <a:endParaRPr lang="en-US" sz="2400">
              <a:latin typeface="Times New Roman" pitchFamily="18" charset="0"/>
            </a:endParaRPr>
          </a:p>
        </p:txBody>
      </p:sp>
      <p:sp>
        <p:nvSpPr>
          <p:cNvPr id="5" name="AutoShape 3"/>
          <p:cNvSpPr>
            <a:spLocks noChangeArrowheads="1"/>
          </p:cNvSpPr>
          <p:nvPr/>
        </p:nvSpPr>
        <p:spPr bwMode="white">
          <a:xfrm>
            <a:off x="327025" y="488950"/>
            <a:ext cx="8435975" cy="4768850"/>
          </a:xfrm>
          <a:prstGeom prst="roundRect">
            <a:avLst>
              <a:gd name="adj" fmla="val 7310"/>
            </a:avLst>
          </a:prstGeom>
          <a:solidFill>
            <a:schemeClr val="bg1"/>
          </a:solidFill>
          <a:ln w="9525">
            <a:noFill/>
            <a:round/>
            <a:headEnd/>
            <a:tailEnd/>
          </a:ln>
          <a:effectLst/>
        </p:spPr>
        <p:txBody>
          <a:bodyPr wrap="none" anchor="ctr"/>
          <a:lstStyle/>
          <a:p>
            <a:pPr algn="ctr">
              <a:defRPr/>
            </a:pPr>
            <a:endParaRPr lang="en-US" sz="2400">
              <a:latin typeface="Times New Roman" pitchFamily="18" charset="0"/>
            </a:endParaRPr>
          </a:p>
        </p:txBody>
      </p:sp>
      <p:sp>
        <p:nvSpPr>
          <p:cNvPr id="6" name="AutoShape 4"/>
          <p:cNvSpPr>
            <a:spLocks noChangeArrowheads="1"/>
          </p:cNvSpPr>
          <p:nvPr/>
        </p:nvSpPr>
        <p:spPr bwMode="blackWhite">
          <a:xfrm>
            <a:off x="1371600" y="3338513"/>
            <a:ext cx="6400800" cy="2286000"/>
          </a:xfrm>
          <a:prstGeom prst="roundRect">
            <a:avLst>
              <a:gd name="adj" fmla="val 16667"/>
            </a:avLst>
          </a:prstGeom>
          <a:solidFill>
            <a:schemeClr val="bg1"/>
          </a:solidFill>
          <a:ln w="50800">
            <a:solidFill>
              <a:schemeClr val="bg2"/>
            </a:solidFill>
            <a:round/>
            <a:headEnd/>
            <a:tailEnd/>
          </a:ln>
          <a:effectLst/>
        </p:spPr>
        <p:txBody>
          <a:bodyPr wrap="none" anchor="ctr"/>
          <a:lstStyle/>
          <a:p>
            <a:pPr algn="ctr">
              <a:defRPr/>
            </a:pPr>
            <a:endParaRPr lang="en-US"/>
          </a:p>
        </p:txBody>
      </p:sp>
      <p:sp>
        <p:nvSpPr>
          <p:cNvPr id="29701" name="Rectangle 5"/>
          <p:cNvSpPr>
            <a:spLocks noGrp="1" noChangeArrowheads="1"/>
          </p:cNvSpPr>
          <p:nvPr>
            <p:ph type="ctrTitle"/>
          </p:nvPr>
        </p:nvSpPr>
        <p:spPr>
          <a:xfrm>
            <a:off x="685800" y="857250"/>
            <a:ext cx="7772400" cy="2266950"/>
          </a:xfrm>
        </p:spPr>
        <p:txBody>
          <a:bodyPr anchor="ctr" anchorCtr="1"/>
          <a:lstStyle>
            <a:lvl1pPr algn="ctr">
              <a:defRPr sz="4100" i="1"/>
            </a:lvl1pPr>
          </a:lstStyle>
          <a:p>
            <a:r>
              <a:rPr lang="en-US"/>
              <a:t>Click to edit Master title style</a:t>
            </a:r>
          </a:p>
        </p:txBody>
      </p:sp>
      <p:sp>
        <p:nvSpPr>
          <p:cNvPr id="29702" name="Rectangle 6"/>
          <p:cNvSpPr>
            <a:spLocks noGrp="1" noChangeArrowheads="1"/>
          </p:cNvSpPr>
          <p:nvPr>
            <p:ph type="subTitle" idx="1"/>
          </p:nvPr>
        </p:nvSpPr>
        <p:spPr>
          <a:xfrm>
            <a:off x="1752600" y="3567113"/>
            <a:ext cx="5410200" cy="1905000"/>
          </a:xfrm>
        </p:spPr>
        <p:txBody>
          <a:bodyPr anchor="ctr"/>
          <a:lstStyle>
            <a:lvl1pPr marL="0" indent="0" algn="ctr">
              <a:buFont typeface="Wingdings" pitchFamily="2" charset="2"/>
              <a:buNone/>
              <a:defRPr sz="3300"/>
            </a:lvl1pPr>
          </a:lstStyle>
          <a:p>
            <a:r>
              <a:rPr lang="en-US"/>
              <a:t>Click to edit Master subtitle style</a:t>
            </a:r>
          </a:p>
        </p:txBody>
      </p:sp>
      <p:sp>
        <p:nvSpPr>
          <p:cNvPr id="7" name="Rectangle 7"/>
          <p:cNvSpPr>
            <a:spLocks noGrp="1" noChangeArrowheads="1"/>
          </p:cNvSpPr>
          <p:nvPr>
            <p:ph type="dt" sz="half" idx="10"/>
          </p:nvPr>
        </p:nvSpPr>
        <p:spPr/>
        <p:txBody>
          <a:bodyPr/>
          <a:lstStyle>
            <a:lvl1pPr>
              <a:defRPr smtClean="0"/>
            </a:lvl1pPr>
          </a:lstStyle>
          <a:p>
            <a:pPr>
              <a:defRPr/>
            </a:pPr>
            <a:endParaRPr lang="en-US"/>
          </a:p>
        </p:txBody>
      </p:sp>
      <p:sp>
        <p:nvSpPr>
          <p:cNvPr id="8" name="Rectangle 8"/>
          <p:cNvSpPr>
            <a:spLocks noGrp="1" noChangeArrowheads="1"/>
          </p:cNvSpPr>
          <p:nvPr>
            <p:ph type="ftr" sz="quarter" idx="11"/>
          </p:nvPr>
        </p:nvSpPr>
        <p:spPr>
          <a:xfrm>
            <a:off x="3352800" y="6391275"/>
            <a:ext cx="2895600" cy="457200"/>
          </a:xfrm>
        </p:spPr>
        <p:txBody>
          <a:bodyPr/>
          <a:lstStyle>
            <a:lvl1pPr>
              <a:defRPr smtClean="0"/>
            </a:lvl1pPr>
          </a:lstStyle>
          <a:p>
            <a:pPr>
              <a:defRPr/>
            </a:pPr>
            <a:endParaRPr lang="en-US"/>
          </a:p>
        </p:txBody>
      </p:sp>
      <p:sp>
        <p:nvSpPr>
          <p:cNvPr id="9" name="Rectangle 9"/>
          <p:cNvSpPr>
            <a:spLocks noGrp="1" noChangeArrowheads="1"/>
          </p:cNvSpPr>
          <p:nvPr>
            <p:ph type="sldNum" sz="quarter" idx="12"/>
          </p:nvPr>
        </p:nvSpPr>
        <p:spPr>
          <a:xfrm>
            <a:off x="6858000" y="6391275"/>
            <a:ext cx="1600200" cy="457200"/>
          </a:xfrm>
        </p:spPr>
        <p:txBody>
          <a:bodyPr/>
          <a:lstStyle>
            <a:lvl1pPr>
              <a:defRPr smtClean="0"/>
            </a:lvl1pPr>
          </a:lstStyle>
          <a:p>
            <a:pPr>
              <a:defRPr/>
            </a:pPr>
            <a:fld id="{E10DE116-ECCD-490B-A3FE-68EE229ACB2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pPr>
              <a:defRPr/>
            </a:pPr>
            <a:fld id="{8369ACA8-19E5-4A23-88BD-63A6FADCB12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pPr>
              <a:defRPr/>
            </a:pPr>
            <a:fld id="{A6651FA9-7DC1-47C6-A1B6-21F6A1AA097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905000"/>
            <a:ext cx="37719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905000"/>
            <a:ext cx="37719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pPr>
              <a:defRPr/>
            </a:pPr>
            <a:fld id="{AE31AD38-F39F-45B4-9917-5FBD60118AB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pPr>
              <a:defRPr/>
            </a:pPr>
            <a:fld id="{ACD5052E-2AE5-4CE6-A0C8-F0E638B34CC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pPr>
              <a:defRPr/>
            </a:pPr>
            <a:fld id="{BA06AA04-CFA6-4B1E-BA48-4A52CEF276D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pPr>
              <a:defRPr/>
            </a:pPr>
            <a:fld id="{D6BB9EFD-A7A6-43E3-89DC-EF512D1506C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pPr>
              <a:defRPr/>
            </a:pPr>
            <a:fld id="{A366CF0E-81B3-4D26-B9FA-16CAAD652E6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pPr>
              <a:defRPr/>
            </a:pPr>
            <a:fld id="{2720A307-39B8-402D-8AC8-B6A9CBC16E8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pPr>
              <a:defRPr/>
            </a:pPr>
            <a:fld id="{31C97452-D818-4697-B698-05435B652D96}"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4150" y="533400"/>
            <a:ext cx="192405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533400"/>
            <a:ext cx="561975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pPr>
              <a:defRPr/>
            </a:pPr>
            <a:fld id="{6A4B9B5C-C26F-4534-B077-73E6BD25EE6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762000" y="533400"/>
            <a:ext cx="76962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4"/>
          <p:cNvSpPr>
            <a:spLocks noGrp="1" noChangeArrowheads="1"/>
          </p:cNvSpPr>
          <p:nvPr>
            <p:ph type="body" idx="1"/>
          </p:nvPr>
        </p:nvSpPr>
        <p:spPr bwMode="auto">
          <a:xfrm>
            <a:off x="762000" y="1905000"/>
            <a:ext cx="7696200" cy="403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677" name="Rectangle 5"/>
          <p:cNvSpPr>
            <a:spLocks noGrp="1" noChangeArrowheads="1"/>
          </p:cNvSpPr>
          <p:nvPr>
            <p:ph type="dt" sz="half" idx="2"/>
          </p:nvPr>
        </p:nvSpPr>
        <p:spPr bwMode="auto">
          <a:xfrm>
            <a:off x="762000" y="6391275"/>
            <a:ext cx="2057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28678" name="Rectangle 6"/>
          <p:cNvSpPr>
            <a:spLocks noGrp="1" noChangeArrowheads="1"/>
          </p:cNvSpPr>
          <p:nvPr>
            <p:ph type="ftr" sz="quarter" idx="3"/>
          </p:nvPr>
        </p:nvSpPr>
        <p:spPr bwMode="auto">
          <a:xfrm>
            <a:off x="3352800" y="6403975"/>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28679" name="Rectangle 7"/>
          <p:cNvSpPr>
            <a:spLocks noGrp="1" noChangeArrowheads="1"/>
          </p:cNvSpPr>
          <p:nvPr>
            <p:ph type="sldNum" sz="quarter" idx="4"/>
          </p:nvPr>
        </p:nvSpPr>
        <p:spPr bwMode="auto">
          <a:xfrm>
            <a:off x="6858000" y="6400800"/>
            <a:ext cx="1600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fld id="{9E38A626-D26B-4724-93AF-51D8C9966F88}" type="slidenum">
              <a:rPr lang="en-US"/>
              <a:pPr>
                <a:defRPr/>
              </a:pPr>
              <a:t>‹#›</a:t>
            </a:fld>
            <a:endParaRPr lang="en-US"/>
          </a:p>
        </p:txBody>
      </p:sp>
      <p:grpSp>
        <p:nvGrpSpPr>
          <p:cNvPr id="1031" name="Group 15"/>
          <p:cNvGrpSpPr>
            <a:grpSpLocks/>
          </p:cNvGrpSpPr>
          <p:nvPr/>
        </p:nvGrpSpPr>
        <p:grpSpPr bwMode="auto">
          <a:xfrm>
            <a:off x="168275" y="228600"/>
            <a:ext cx="8823325" cy="6096000"/>
            <a:chOff x="106" y="144"/>
            <a:chExt cx="5558" cy="3840"/>
          </a:xfrm>
        </p:grpSpPr>
        <p:sp>
          <p:nvSpPr>
            <p:cNvPr id="28674" name="AutoShape 2"/>
            <p:cNvSpPr>
              <a:spLocks noChangeArrowheads="1"/>
            </p:cNvSpPr>
            <p:nvPr/>
          </p:nvSpPr>
          <p:spPr bwMode="auto">
            <a:xfrm>
              <a:off x="106" y="144"/>
              <a:ext cx="5558" cy="3840"/>
            </a:xfrm>
            <a:prstGeom prst="roundRect">
              <a:avLst>
                <a:gd name="adj" fmla="val 11046"/>
              </a:avLst>
            </a:prstGeom>
            <a:noFill/>
            <a:ln w="28575">
              <a:solidFill>
                <a:schemeClr val="folHlink"/>
              </a:solidFill>
              <a:round/>
              <a:headEnd/>
              <a:tailEnd/>
            </a:ln>
            <a:effectLst/>
          </p:spPr>
          <p:txBody>
            <a:bodyPr wrap="none" anchor="ctr"/>
            <a:lstStyle/>
            <a:p>
              <a:pPr algn="ctr">
                <a:defRPr/>
              </a:pPr>
              <a:endParaRPr lang="en-US" sz="2400">
                <a:latin typeface="Times New Roman" pitchFamily="18" charset="0"/>
              </a:endParaRPr>
            </a:p>
          </p:txBody>
        </p:sp>
        <p:sp>
          <p:nvSpPr>
            <p:cNvPr id="28680" name="Line 8"/>
            <p:cNvSpPr>
              <a:spLocks noChangeShapeType="1"/>
            </p:cNvSpPr>
            <p:nvPr/>
          </p:nvSpPr>
          <p:spPr bwMode="auto">
            <a:xfrm>
              <a:off x="480" y="1077"/>
              <a:ext cx="4848" cy="0"/>
            </a:xfrm>
            <a:prstGeom prst="line">
              <a:avLst/>
            </a:prstGeom>
            <a:noFill/>
            <a:ln w="38100">
              <a:solidFill>
                <a:schemeClr val="folHlink"/>
              </a:solidFill>
              <a:round/>
              <a:headEnd/>
              <a:tailEn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Arial Black" pitchFamily="34" charset="0"/>
        </a:defRPr>
      </a:lvl2pPr>
      <a:lvl3pPr algn="l" rtl="0" eaLnBrk="0" fontAlgn="base" hangingPunct="0">
        <a:spcBef>
          <a:spcPct val="0"/>
        </a:spcBef>
        <a:spcAft>
          <a:spcPct val="0"/>
        </a:spcAft>
        <a:defRPr sz="3300">
          <a:solidFill>
            <a:schemeClr val="tx2"/>
          </a:solidFill>
          <a:latin typeface="Arial Black" pitchFamily="34" charset="0"/>
        </a:defRPr>
      </a:lvl3pPr>
      <a:lvl4pPr algn="l" rtl="0" eaLnBrk="0" fontAlgn="base" hangingPunct="0">
        <a:spcBef>
          <a:spcPct val="0"/>
        </a:spcBef>
        <a:spcAft>
          <a:spcPct val="0"/>
        </a:spcAft>
        <a:defRPr sz="3300">
          <a:solidFill>
            <a:schemeClr val="tx2"/>
          </a:solidFill>
          <a:latin typeface="Arial Black" pitchFamily="34" charset="0"/>
        </a:defRPr>
      </a:lvl4pPr>
      <a:lvl5pPr algn="l" rtl="0" eaLnBrk="0" fontAlgn="base" hangingPunct="0">
        <a:spcBef>
          <a:spcPct val="0"/>
        </a:spcBef>
        <a:spcAft>
          <a:spcPct val="0"/>
        </a:spcAft>
        <a:defRPr sz="3300">
          <a:solidFill>
            <a:schemeClr val="tx2"/>
          </a:solidFill>
          <a:latin typeface="Arial Black" pitchFamily="34" charset="0"/>
        </a:defRPr>
      </a:lvl5pPr>
      <a:lvl6pPr marL="457200" algn="l" rtl="0" fontAlgn="base">
        <a:spcBef>
          <a:spcPct val="0"/>
        </a:spcBef>
        <a:spcAft>
          <a:spcPct val="0"/>
        </a:spcAft>
        <a:defRPr sz="3300">
          <a:solidFill>
            <a:schemeClr val="tx2"/>
          </a:solidFill>
          <a:latin typeface="Arial Black" pitchFamily="34" charset="0"/>
        </a:defRPr>
      </a:lvl6pPr>
      <a:lvl7pPr marL="914400" algn="l" rtl="0" fontAlgn="base">
        <a:spcBef>
          <a:spcPct val="0"/>
        </a:spcBef>
        <a:spcAft>
          <a:spcPct val="0"/>
        </a:spcAft>
        <a:defRPr sz="3300">
          <a:solidFill>
            <a:schemeClr val="tx2"/>
          </a:solidFill>
          <a:latin typeface="Arial Black" pitchFamily="34" charset="0"/>
        </a:defRPr>
      </a:lvl7pPr>
      <a:lvl8pPr marL="1371600" algn="l" rtl="0" fontAlgn="base">
        <a:spcBef>
          <a:spcPct val="0"/>
        </a:spcBef>
        <a:spcAft>
          <a:spcPct val="0"/>
        </a:spcAft>
        <a:defRPr sz="3300">
          <a:solidFill>
            <a:schemeClr val="tx2"/>
          </a:solidFill>
          <a:latin typeface="Arial Black" pitchFamily="34" charset="0"/>
        </a:defRPr>
      </a:lvl8pPr>
      <a:lvl9pPr marL="1828800" algn="l" rtl="0" fontAlgn="base">
        <a:spcBef>
          <a:spcPct val="0"/>
        </a:spcBef>
        <a:spcAft>
          <a:spcPct val="0"/>
        </a:spcAft>
        <a:defRPr sz="33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1828800"/>
            <a:ext cx="7772400" cy="1981200"/>
          </a:xfrm>
        </p:spPr>
        <p:txBody>
          <a:bodyPr/>
          <a:lstStyle/>
          <a:p>
            <a:pPr algn="ctr" eaLnBrk="1" hangingPunct="1"/>
            <a:r>
              <a:rPr lang="en-US" sz="3600" dirty="0"/>
              <a:t>Lecture 4</a:t>
            </a:r>
            <a:br>
              <a:rPr lang="en-US" sz="3600" dirty="0"/>
            </a:br>
            <a:r>
              <a:rPr lang="en-US" sz="3600" dirty="0"/>
              <a:t>AWS Elastic Compute Cloud</a:t>
            </a:r>
            <a:endParaRPr lang="en-US" sz="3600" dirty="0">
              <a:solidFill>
                <a:schemeClr val="folHlink"/>
              </a:solidFill>
              <a:latin typeface="Arial Rounded MT Bold"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Server</a:t>
            </a:r>
          </a:p>
        </p:txBody>
      </p:sp>
      <p:sp>
        <p:nvSpPr>
          <p:cNvPr id="3" name="Content Placeholder 2"/>
          <p:cNvSpPr>
            <a:spLocks noGrp="1"/>
          </p:cNvSpPr>
          <p:nvPr>
            <p:ph idx="1"/>
          </p:nvPr>
        </p:nvSpPr>
        <p:spPr>
          <a:xfrm>
            <a:off x="762000" y="1752600"/>
            <a:ext cx="7696200" cy="4191000"/>
          </a:xfrm>
        </p:spPr>
        <p:txBody>
          <a:bodyPr/>
          <a:lstStyle/>
          <a:p>
            <a:pPr algn="just"/>
            <a:r>
              <a:rPr lang="en-US" sz="2800" dirty="0"/>
              <a:t>A virtual server is a server that shares hardware and software resources with other operating systems. </a:t>
            </a:r>
          </a:p>
          <a:p>
            <a:pPr algn="just"/>
            <a:r>
              <a:rPr lang="en-US" sz="2800" dirty="0"/>
              <a:t>Ideally, a virtual server mimics dedicated server functionalities. Rather than implement multiple dedicated servers, several virtual servers may be implemented on one server.</a:t>
            </a:r>
          </a:p>
          <a:p>
            <a:pPr algn="just"/>
            <a:r>
              <a:rPr lang="en-US" sz="2800" dirty="0"/>
              <a:t>Each virtual server is designated a separate OS, software and independent reboot provisioning.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EC2</a:t>
            </a:r>
          </a:p>
        </p:txBody>
      </p:sp>
      <p:sp>
        <p:nvSpPr>
          <p:cNvPr id="3" name="Content Placeholder 2"/>
          <p:cNvSpPr>
            <a:spLocks noGrp="1"/>
          </p:cNvSpPr>
          <p:nvPr>
            <p:ph idx="1"/>
          </p:nvPr>
        </p:nvSpPr>
        <p:spPr/>
        <p:txBody>
          <a:bodyPr/>
          <a:lstStyle/>
          <a:p>
            <a:pPr algn="just"/>
            <a:r>
              <a:rPr lang="en-US" dirty="0"/>
              <a:t>Amazon Elastic Compute Cloud encourages scalable deployment of applications by providing a web service, through which a user can boot an Amazon Machine Image (AMI) to configure a virtual server. </a:t>
            </a:r>
          </a:p>
        </p:txBody>
      </p:sp>
    </p:spTree>
    <p:extLst>
      <p:ext uri="{BB962C8B-B14F-4D97-AF65-F5344CB8AC3E}">
        <p14:creationId xmlns:p14="http://schemas.microsoft.com/office/powerpoint/2010/main" val="3275100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EC2</a:t>
            </a:r>
            <a:endParaRPr lang="en-US" dirty="0"/>
          </a:p>
        </p:txBody>
      </p:sp>
      <p:pic>
        <p:nvPicPr>
          <p:cNvPr id="6" name="Content Placeholder 5"/>
          <p:cNvPicPr>
            <a:picLocks noGrp="1" noChangeAspect="1"/>
          </p:cNvPicPr>
          <p:nvPr>
            <p:ph idx="1"/>
          </p:nvPr>
        </p:nvPicPr>
        <p:blipFill>
          <a:blip r:embed="rId2"/>
          <a:stretch>
            <a:fillRect/>
          </a:stretch>
        </p:blipFill>
        <p:spPr>
          <a:xfrm>
            <a:off x="924410" y="1905000"/>
            <a:ext cx="7371380" cy="4328573"/>
          </a:xfrm>
          <a:prstGeom prst="rect">
            <a:avLst/>
          </a:prstGeom>
        </p:spPr>
      </p:pic>
    </p:spTree>
    <p:extLst>
      <p:ext uri="{BB962C8B-B14F-4D97-AF65-F5344CB8AC3E}">
        <p14:creationId xmlns:p14="http://schemas.microsoft.com/office/powerpoint/2010/main" val="1291440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a Suitable AMI</a:t>
            </a:r>
          </a:p>
        </p:txBody>
      </p:sp>
      <p:sp>
        <p:nvSpPr>
          <p:cNvPr id="3" name="Content Placeholder 2"/>
          <p:cNvSpPr>
            <a:spLocks noGrp="1"/>
          </p:cNvSpPr>
          <p:nvPr>
            <p:ph idx="1"/>
          </p:nvPr>
        </p:nvSpPr>
        <p:spPr/>
        <p:txBody>
          <a:bodyPr/>
          <a:lstStyle/>
          <a:p>
            <a:pPr algn="just"/>
            <a:r>
              <a:rPr lang="en-US" sz="2800" dirty="0"/>
              <a:t>An AMI is like a boot CD. It contains the root image with everything necessary to start an instance.</a:t>
            </a:r>
          </a:p>
          <a:p>
            <a:pPr lvl="1" algn="just"/>
            <a:r>
              <a:rPr lang="en-US" sz="2300" dirty="0"/>
              <a:t>An instance is a virtual server machine. </a:t>
            </a:r>
          </a:p>
          <a:p>
            <a:pPr algn="just"/>
            <a:r>
              <a:rPr lang="en-US" sz="2800" dirty="0"/>
              <a:t>Ubuntu is one of the distribution systems of Linux. It usually runes on personal computers, and is also popular on network servers.</a:t>
            </a:r>
          </a:p>
          <a:p>
            <a:pPr algn="just"/>
            <a:endParaRPr lang="en-US" sz="2800" dirty="0"/>
          </a:p>
        </p:txBody>
      </p:sp>
    </p:spTree>
    <p:extLst>
      <p:ext uri="{BB962C8B-B14F-4D97-AF65-F5344CB8AC3E}">
        <p14:creationId xmlns:p14="http://schemas.microsoft.com/office/powerpoint/2010/main" val="374939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Instance Type</a:t>
            </a:r>
          </a:p>
        </p:txBody>
      </p:sp>
      <p:sp>
        <p:nvSpPr>
          <p:cNvPr id="3" name="Content Placeholder 2"/>
          <p:cNvSpPr>
            <a:spLocks noGrp="1"/>
          </p:cNvSpPr>
          <p:nvPr>
            <p:ph idx="1"/>
          </p:nvPr>
        </p:nvSpPr>
        <p:spPr/>
        <p:txBody>
          <a:bodyPr/>
          <a:lstStyle/>
          <a:p>
            <a:pPr algn="just"/>
            <a:r>
              <a:rPr lang="en-US" sz="2800" dirty="0"/>
              <a:t>T2.micro is designed to work with a broad set of AMIs and AWS Marketplace software eligible for Free Tier. The t2.micro is the best starting point to get hands-on experience with AWS, and customers can later scale up or down depending on their workloads.</a:t>
            </a:r>
          </a:p>
          <a:p>
            <a:pPr algn="just"/>
            <a:r>
              <a:rPr lang="en-US" sz="2800" dirty="0"/>
              <a:t>Leave advanced instance options on the default settings.</a:t>
            </a:r>
          </a:p>
        </p:txBody>
      </p:sp>
    </p:spTree>
    <p:extLst>
      <p:ext uri="{BB962C8B-B14F-4D97-AF65-F5344CB8AC3E}">
        <p14:creationId xmlns:p14="http://schemas.microsoft.com/office/powerpoint/2010/main" val="362868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Instance Type</a:t>
            </a:r>
          </a:p>
        </p:txBody>
      </p:sp>
      <p:sp>
        <p:nvSpPr>
          <p:cNvPr id="3" name="Content Placeholder 2"/>
          <p:cNvSpPr>
            <a:spLocks noGrp="1"/>
          </p:cNvSpPr>
          <p:nvPr>
            <p:ph idx="1"/>
          </p:nvPr>
        </p:nvSpPr>
        <p:spPr/>
        <p:txBody>
          <a:bodyPr/>
          <a:lstStyle/>
          <a:p>
            <a:pPr algn="just"/>
            <a:r>
              <a:rPr lang="en-US" dirty="0"/>
              <a:t>If the server configuration needs to be changed, first select Stop from the Instance State list. After the server stopped, choose Instance Setting from action list to change the instance type.</a:t>
            </a:r>
          </a:p>
        </p:txBody>
      </p:sp>
    </p:spTree>
    <p:extLst>
      <p:ext uri="{BB962C8B-B14F-4D97-AF65-F5344CB8AC3E}">
        <p14:creationId xmlns:p14="http://schemas.microsoft.com/office/powerpoint/2010/main" val="3899240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Key Pair</a:t>
            </a:r>
          </a:p>
        </p:txBody>
      </p:sp>
      <p:sp>
        <p:nvSpPr>
          <p:cNvPr id="3" name="Content Placeholder 2"/>
          <p:cNvSpPr>
            <a:spLocks noGrp="1"/>
          </p:cNvSpPr>
          <p:nvPr>
            <p:ph idx="1"/>
          </p:nvPr>
        </p:nvSpPr>
        <p:spPr/>
        <p:txBody>
          <a:bodyPr/>
          <a:lstStyle/>
          <a:p>
            <a:pPr algn="just"/>
            <a:r>
              <a:rPr lang="en-US" dirty="0"/>
              <a:t>A key pair is one of the ways AWS handles security. It is also the only way to get into the instance launched.</a:t>
            </a:r>
          </a:p>
          <a:p>
            <a:pPr algn="just"/>
            <a:r>
              <a:rPr lang="en-US" dirty="0"/>
              <a:t>Create a key pair and download it.</a:t>
            </a:r>
          </a:p>
          <a:p>
            <a:pPr lvl="1" algn="just"/>
            <a:r>
              <a:rPr lang="en-US" dirty="0"/>
              <a:t>The key pair only can be downloaded when it is created. It won’t be downloadable again.</a:t>
            </a:r>
          </a:p>
          <a:p>
            <a:pPr lvl="1" algn="just"/>
            <a:r>
              <a:rPr lang="en-US" dirty="0"/>
              <a:t>An instance without a key pair cannot be connected later.</a:t>
            </a:r>
          </a:p>
        </p:txBody>
      </p:sp>
    </p:spTree>
    <p:extLst>
      <p:ext uri="{BB962C8B-B14F-4D97-AF65-F5344CB8AC3E}">
        <p14:creationId xmlns:p14="http://schemas.microsoft.com/office/powerpoint/2010/main" val="2989377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04950" y="1828800"/>
            <a:ext cx="6210300" cy="4411994"/>
          </a:xfrm>
          <a:prstGeom prst="rect">
            <a:avLst/>
          </a:prstGeom>
        </p:spPr>
      </p:pic>
      <p:sp>
        <p:nvSpPr>
          <p:cNvPr id="6" name="Title 1"/>
          <p:cNvSpPr>
            <a:spLocks noGrp="1"/>
          </p:cNvSpPr>
          <p:nvPr>
            <p:ph type="title"/>
          </p:nvPr>
        </p:nvSpPr>
        <p:spPr>
          <a:xfrm>
            <a:off x="762000" y="533400"/>
            <a:ext cx="7696200" cy="1143000"/>
          </a:xfrm>
        </p:spPr>
        <p:txBody>
          <a:bodyPr/>
          <a:lstStyle/>
          <a:p>
            <a:r>
              <a:rPr lang="en-US" dirty="0"/>
              <a:t>Creating a Key Pair</a:t>
            </a:r>
          </a:p>
        </p:txBody>
      </p:sp>
    </p:spTree>
    <p:extLst>
      <p:ext uri="{BB962C8B-B14F-4D97-AF65-F5344CB8AC3E}">
        <p14:creationId xmlns:p14="http://schemas.microsoft.com/office/powerpoint/2010/main" val="3983285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EF86E-B59D-691B-D37A-29DEBD20B61F}"/>
              </a:ext>
            </a:extLst>
          </p:cNvPr>
          <p:cNvSpPr>
            <a:spLocks noGrp="1"/>
          </p:cNvSpPr>
          <p:nvPr>
            <p:ph type="title"/>
          </p:nvPr>
        </p:nvSpPr>
        <p:spPr/>
        <p:txBody>
          <a:bodyPr/>
          <a:lstStyle/>
          <a:p>
            <a:r>
              <a:rPr lang="en-US" dirty="0"/>
              <a:t>Changing Keypair File Permission as Not Public</a:t>
            </a:r>
          </a:p>
        </p:txBody>
      </p:sp>
      <p:sp>
        <p:nvSpPr>
          <p:cNvPr id="7" name="Content Placeholder 6">
            <a:extLst>
              <a:ext uri="{FF2B5EF4-FFF2-40B4-BE49-F238E27FC236}">
                <a16:creationId xmlns:a16="http://schemas.microsoft.com/office/drawing/2014/main" id="{0129DF1D-59DF-EC92-B1FD-1B3395A951FD}"/>
              </a:ext>
            </a:extLst>
          </p:cNvPr>
          <p:cNvSpPr>
            <a:spLocks noGrp="1"/>
          </p:cNvSpPr>
          <p:nvPr>
            <p:ph idx="1"/>
          </p:nvPr>
        </p:nvSpPr>
        <p:spPr>
          <a:xfrm>
            <a:off x="762000" y="1828800"/>
            <a:ext cx="7696200" cy="4114800"/>
          </a:xfrm>
        </p:spPr>
        <p:txBody>
          <a:bodyPr/>
          <a:lstStyle/>
          <a:p>
            <a:r>
              <a:rPr lang="en-US" sz="2400" dirty="0"/>
              <a:t>Open Windows PowerShell application</a:t>
            </a:r>
          </a:p>
          <a:p>
            <a:r>
              <a:rPr lang="en-US" sz="2400" dirty="0"/>
              <a:t>Run the following commands</a:t>
            </a:r>
          </a:p>
          <a:p>
            <a:pPr lvl="1"/>
            <a:r>
              <a:rPr lang="en-US" sz="2000" dirty="0"/>
              <a:t>icacls.exe ec2keypair.pem /reset</a:t>
            </a:r>
          </a:p>
          <a:p>
            <a:pPr lvl="1"/>
            <a:r>
              <a:rPr lang="en-US" sz="2000" dirty="0"/>
              <a:t>icacls.exe ec2keypair.pem /</a:t>
            </a:r>
            <a:r>
              <a:rPr lang="en-US" sz="2000" dirty="0" err="1"/>
              <a:t>grant:r</a:t>
            </a:r>
            <a:r>
              <a:rPr lang="en-US" sz="2000" dirty="0"/>
              <a:t> "$($</a:t>
            </a:r>
            <a:r>
              <a:rPr lang="en-US" sz="2000" dirty="0" err="1"/>
              <a:t>env:username</a:t>
            </a:r>
            <a:r>
              <a:rPr lang="en-US" sz="2000" dirty="0"/>
              <a:t>):(r)"</a:t>
            </a:r>
          </a:p>
          <a:p>
            <a:pPr lvl="1"/>
            <a:r>
              <a:rPr lang="en-US" sz="2000" dirty="0"/>
              <a:t>icacls.exe ec2keypair.pem /</a:t>
            </a:r>
            <a:r>
              <a:rPr lang="en-US" sz="2000" dirty="0" err="1"/>
              <a:t>inheritance:r</a:t>
            </a:r>
            <a:endParaRPr lang="en-US" sz="2000" dirty="0"/>
          </a:p>
        </p:txBody>
      </p:sp>
      <p:pic>
        <p:nvPicPr>
          <p:cNvPr id="11" name="Picture 10">
            <a:extLst>
              <a:ext uri="{FF2B5EF4-FFF2-40B4-BE49-F238E27FC236}">
                <a16:creationId xmlns:a16="http://schemas.microsoft.com/office/drawing/2014/main" id="{6BA1A682-B4BF-6113-D829-330167AC095B}"/>
              </a:ext>
            </a:extLst>
          </p:cNvPr>
          <p:cNvPicPr>
            <a:picLocks noChangeAspect="1"/>
          </p:cNvPicPr>
          <p:nvPr/>
        </p:nvPicPr>
        <p:blipFill>
          <a:blip r:embed="rId2"/>
          <a:stretch>
            <a:fillRect/>
          </a:stretch>
        </p:blipFill>
        <p:spPr>
          <a:xfrm>
            <a:off x="1078706" y="3760432"/>
            <a:ext cx="7062787" cy="2438044"/>
          </a:xfrm>
          <a:prstGeom prst="rect">
            <a:avLst/>
          </a:prstGeom>
        </p:spPr>
      </p:pic>
    </p:spTree>
    <p:extLst>
      <p:ext uri="{BB962C8B-B14F-4D97-AF65-F5344CB8AC3E}">
        <p14:creationId xmlns:p14="http://schemas.microsoft.com/office/powerpoint/2010/main" val="2630468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Connecting With Instance</a:t>
            </a:r>
          </a:p>
        </p:txBody>
      </p:sp>
      <p:sp>
        <p:nvSpPr>
          <p:cNvPr id="3" name="Content Placeholder 2"/>
          <p:cNvSpPr>
            <a:spLocks noGrp="1"/>
          </p:cNvSpPr>
          <p:nvPr>
            <p:ph idx="1"/>
          </p:nvPr>
        </p:nvSpPr>
        <p:spPr>
          <a:xfrm>
            <a:off x="762000" y="1828800"/>
            <a:ext cx="7696200" cy="4114800"/>
          </a:xfrm>
        </p:spPr>
        <p:txBody>
          <a:bodyPr/>
          <a:lstStyle/>
          <a:p>
            <a:pPr algn="just"/>
            <a:r>
              <a:rPr lang="en-US" sz="2800" dirty="0"/>
              <a:t>Select the instance, and then choose Connect.</a:t>
            </a:r>
          </a:p>
          <a:p>
            <a:pPr algn="just"/>
            <a:r>
              <a:rPr lang="en-US" sz="2800" dirty="0"/>
              <a:t>Use SSH client to connect with Linux/Ubuntu instance.</a:t>
            </a:r>
          </a:p>
          <a:p>
            <a:pPr lvl="1" algn="just"/>
            <a:r>
              <a:rPr lang="en-US" sz="2400" dirty="0"/>
              <a:t>Windows 10 has a built-in SSH client that can be used in Windows Terminal.</a:t>
            </a:r>
          </a:p>
          <a:p>
            <a:pPr lvl="1" algn="just"/>
            <a:r>
              <a:rPr lang="en-US" sz="2400" dirty="0"/>
              <a:t>Ubuntu administrator username is ubuntu.</a:t>
            </a:r>
          </a:p>
          <a:p>
            <a:pPr algn="just"/>
            <a:r>
              <a:rPr lang="en-US" sz="2800" dirty="0"/>
              <a:t>Use RDP client to connect with Windows instance.</a:t>
            </a:r>
          </a:p>
          <a:p>
            <a:pPr lvl="1" algn="just"/>
            <a:r>
              <a:rPr lang="en-US" sz="2300" dirty="0"/>
              <a:t>Windows 10 has a built-in Remote Desktop client.</a:t>
            </a:r>
          </a:p>
          <a:p>
            <a:pPr algn="just"/>
            <a:endParaRPr lang="en-US" sz="2400" dirty="0"/>
          </a:p>
          <a:p>
            <a:pPr lvl="1" algn="just"/>
            <a:endParaRPr lang="en-US" sz="2400" dirty="0"/>
          </a:p>
          <a:p>
            <a:pPr lvl="1" algn="just"/>
            <a:endParaRPr lang="en-US" sz="2400" dirty="0"/>
          </a:p>
          <a:p>
            <a:pPr lvl="1" algn="just"/>
            <a:endParaRPr lang="en-US" sz="2400" dirty="0"/>
          </a:p>
        </p:txBody>
      </p:sp>
    </p:spTree>
    <p:extLst>
      <p:ext uri="{BB962C8B-B14F-4D97-AF65-F5344CB8AC3E}">
        <p14:creationId xmlns:p14="http://schemas.microsoft.com/office/powerpoint/2010/main" val="2965970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C7A2-8B6B-411B-9C51-F73C9A85E8E3}"/>
              </a:ext>
            </a:extLst>
          </p:cNvPr>
          <p:cNvSpPr>
            <a:spLocks noGrp="1"/>
          </p:cNvSpPr>
          <p:nvPr>
            <p:ph type="title"/>
          </p:nvPr>
        </p:nvSpPr>
        <p:spPr/>
        <p:txBody>
          <a:bodyPr/>
          <a:lstStyle/>
          <a:p>
            <a:r>
              <a:rPr lang="en-US" dirty="0"/>
              <a:t>Linux/Ubuntu instance</a:t>
            </a:r>
          </a:p>
        </p:txBody>
      </p:sp>
      <p:pic>
        <p:nvPicPr>
          <p:cNvPr id="5" name="Content Placeholder 4">
            <a:extLst>
              <a:ext uri="{FF2B5EF4-FFF2-40B4-BE49-F238E27FC236}">
                <a16:creationId xmlns:a16="http://schemas.microsoft.com/office/drawing/2014/main" id="{403EE1A5-A6F4-4A41-9A81-1030A63CB182}"/>
              </a:ext>
            </a:extLst>
          </p:cNvPr>
          <p:cNvPicPr>
            <a:picLocks noGrp="1" noChangeAspect="1"/>
          </p:cNvPicPr>
          <p:nvPr>
            <p:ph idx="1"/>
          </p:nvPr>
        </p:nvPicPr>
        <p:blipFill>
          <a:blip r:embed="rId2"/>
          <a:stretch>
            <a:fillRect/>
          </a:stretch>
        </p:blipFill>
        <p:spPr>
          <a:xfrm>
            <a:off x="1913565" y="1905000"/>
            <a:ext cx="5393069" cy="4038600"/>
          </a:xfrm>
        </p:spPr>
      </p:pic>
    </p:spTree>
    <p:extLst>
      <p:ext uri="{BB962C8B-B14F-4D97-AF65-F5344CB8AC3E}">
        <p14:creationId xmlns:p14="http://schemas.microsoft.com/office/powerpoint/2010/main" val="716084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7780C-A927-4297-9AFB-678276606CEE}"/>
              </a:ext>
            </a:extLst>
          </p:cNvPr>
          <p:cNvSpPr>
            <a:spLocks noGrp="1"/>
          </p:cNvSpPr>
          <p:nvPr>
            <p:ph type="title"/>
          </p:nvPr>
        </p:nvSpPr>
        <p:spPr/>
        <p:txBody>
          <a:bodyPr/>
          <a:lstStyle/>
          <a:p>
            <a:r>
              <a:rPr lang="en-US" dirty="0"/>
              <a:t>Linux/Ubuntu instance</a:t>
            </a:r>
          </a:p>
        </p:txBody>
      </p:sp>
      <p:pic>
        <p:nvPicPr>
          <p:cNvPr id="5" name="Content Placeholder 4">
            <a:extLst>
              <a:ext uri="{FF2B5EF4-FFF2-40B4-BE49-F238E27FC236}">
                <a16:creationId xmlns:a16="http://schemas.microsoft.com/office/drawing/2014/main" id="{40AF844A-1C4B-418F-B083-95E9AAE10B22}"/>
              </a:ext>
            </a:extLst>
          </p:cNvPr>
          <p:cNvPicPr>
            <a:picLocks noGrp="1" noChangeAspect="1"/>
          </p:cNvPicPr>
          <p:nvPr>
            <p:ph idx="1"/>
          </p:nvPr>
        </p:nvPicPr>
        <p:blipFill>
          <a:blip r:embed="rId2"/>
          <a:stretch>
            <a:fillRect/>
          </a:stretch>
        </p:blipFill>
        <p:spPr>
          <a:xfrm>
            <a:off x="1045850" y="1905000"/>
            <a:ext cx="7128500" cy="4038600"/>
          </a:xfrm>
        </p:spPr>
      </p:pic>
    </p:spTree>
    <p:extLst>
      <p:ext uri="{BB962C8B-B14F-4D97-AF65-F5344CB8AC3E}">
        <p14:creationId xmlns:p14="http://schemas.microsoft.com/office/powerpoint/2010/main" val="3338572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D596-3A64-46AA-9590-02BCB9A62BAF}"/>
              </a:ext>
            </a:extLst>
          </p:cNvPr>
          <p:cNvSpPr>
            <a:spLocks noGrp="1"/>
          </p:cNvSpPr>
          <p:nvPr>
            <p:ph type="title"/>
          </p:nvPr>
        </p:nvSpPr>
        <p:spPr/>
        <p:txBody>
          <a:bodyPr/>
          <a:lstStyle/>
          <a:p>
            <a:r>
              <a:rPr lang="en-US" dirty="0"/>
              <a:t>Windows Instance</a:t>
            </a:r>
          </a:p>
        </p:txBody>
      </p:sp>
      <p:pic>
        <p:nvPicPr>
          <p:cNvPr id="7" name="Content Placeholder 6">
            <a:extLst>
              <a:ext uri="{FF2B5EF4-FFF2-40B4-BE49-F238E27FC236}">
                <a16:creationId xmlns:a16="http://schemas.microsoft.com/office/drawing/2014/main" id="{9BBED207-6E85-4D41-8B3F-E562078E57A5}"/>
              </a:ext>
            </a:extLst>
          </p:cNvPr>
          <p:cNvPicPr>
            <a:picLocks noGrp="1" noChangeAspect="1"/>
          </p:cNvPicPr>
          <p:nvPr>
            <p:ph idx="1"/>
          </p:nvPr>
        </p:nvPicPr>
        <p:blipFill>
          <a:blip r:embed="rId2"/>
          <a:stretch>
            <a:fillRect/>
          </a:stretch>
        </p:blipFill>
        <p:spPr>
          <a:xfrm>
            <a:off x="1872022" y="1905000"/>
            <a:ext cx="5476155" cy="4038600"/>
          </a:xfrm>
        </p:spPr>
      </p:pic>
    </p:spTree>
    <p:extLst>
      <p:ext uri="{BB962C8B-B14F-4D97-AF65-F5344CB8AC3E}">
        <p14:creationId xmlns:p14="http://schemas.microsoft.com/office/powerpoint/2010/main" val="680117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191000" y="2514600"/>
            <a:ext cx="4267200" cy="2400856"/>
          </a:xfrm>
          <a:prstGeom prst="rect">
            <a:avLst/>
          </a:prstGeom>
        </p:spPr>
      </p:pic>
      <p:sp>
        <p:nvSpPr>
          <p:cNvPr id="6" name="Title 1"/>
          <p:cNvSpPr>
            <a:spLocks noGrp="1"/>
          </p:cNvSpPr>
          <p:nvPr>
            <p:ph type="title"/>
          </p:nvPr>
        </p:nvSpPr>
        <p:spPr>
          <a:xfrm>
            <a:off x="762000" y="533400"/>
            <a:ext cx="7696200" cy="1143000"/>
          </a:xfrm>
        </p:spPr>
        <p:txBody>
          <a:bodyPr/>
          <a:lstStyle/>
          <a:p>
            <a:r>
              <a:rPr lang="en-US" dirty="0"/>
              <a:t>Windows Instance</a:t>
            </a:r>
          </a:p>
        </p:txBody>
      </p:sp>
      <p:pic>
        <p:nvPicPr>
          <p:cNvPr id="8" name="Picture 7">
            <a:extLst>
              <a:ext uri="{FF2B5EF4-FFF2-40B4-BE49-F238E27FC236}">
                <a16:creationId xmlns:a16="http://schemas.microsoft.com/office/drawing/2014/main" id="{D10BBA93-A8AB-411D-8BF6-B824B1A3C4F1}"/>
              </a:ext>
            </a:extLst>
          </p:cNvPr>
          <p:cNvPicPr>
            <a:picLocks noChangeAspect="1"/>
          </p:cNvPicPr>
          <p:nvPr/>
        </p:nvPicPr>
        <p:blipFill>
          <a:blip r:embed="rId3"/>
          <a:stretch>
            <a:fillRect/>
          </a:stretch>
        </p:blipFill>
        <p:spPr>
          <a:xfrm>
            <a:off x="762000" y="1981200"/>
            <a:ext cx="3109837" cy="3907756"/>
          </a:xfrm>
          <a:prstGeom prst="rect">
            <a:avLst/>
          </a:prstGeom>
        </p:spPr>
      </p:pic>
    </p:spTree>
    <p:extLst>
      <p:ext uri="{BB962C8B-B14F-4D97-AF65-F5344CB8AC3E}">
        <p14:creationId xmlns:p14="http://schemas.microsoft.com/office/powerpoint/2010/main" val="1547283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Deleting Key Pair</a:t>
            </a:r>
          </a:p>
        </p:txBody>
      </p:sp>
      <p:sp>
        <p:nvSpPr>
          <p:cNvPr id="3" name="Content Placeholder 2"/>
          <p:cNvSpPr>
            <a:spLocks noGrp="1"/>
          </p:cNvSpPr>
          <p:nvPr>
            <p:ph idx="1"/>
          </p:nvPr>
        </p:nvSpPr>
        <p:spPr>
          <a:xfrm>
            <a:off x="762000" y="1752600"/>
            <a:ext cx="7696200" cy="4191000"/>
          </a:xfrm>
        </p:spPr>
        <p:txBody>
          <a:bodyPr/>
          <a:lstStyle/>
          <a:p>
            <a:pPr algn="just"/>
            <a:r>
              <a:rPr lang="en-US" dirty="0"/>
              <a:t>When deleting a key pair, only the Amazon EC2's copy of the public key is deleted. Deleting a key pair doesn't affect the public key on any instances already launched using that key pair. </a:t>
            </a:r>
          </a:p>
          <a:p>
            <a:pPr lvl="1" algn="just"/>
            <a:r>
              <a:rPr lang="en-US" dirty="0"/>
              <a:t>You can't launch a new instance using a deleted key pair, but you can continue to connect to any instances that you launched using a deleted key pair, as long as you still have the private key (.</a:t>
            </a:r>
            <a:r>
              <a:rPr lang="en-US" dirty="0" err="1"/>
              <a:t>pem</a:t>
            </a:r>
            <a:r>
              <a:rPr lang="en-US" dirty="0"/>
              <a:t>) file.</a:t>
            </a:r>
          </a:p>
        </p:txBody>
      </p:sp>
    </p:spTree>
    <p:extLst>
      <p:ext uri="{BB962C8B-B14F-4D97-AF65-F5344CB8AC3E}">
        <p14:creationId xmlns:p14="http://schemas.microsoft.com/office/powerpoint/2010/main" val="1624179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Deleting Key Pair</a:t>
            </a:r>
          </a:p>
        </p:txBody>
      </p:sp>
      <p:sp>
        <p:nvSpPr>
          <p:cNvPr id="3" name="Content Placeholder 2"/>
          <p:cNvSpPr>
            <a:spLocks noGrp="1"/>
          </p:cNvSpPr>
          <p:nvPr>
            <p:ph idx="1"/>
          </p:nvPr>
        </p:nvSpPr>
        <p:spPr/>
        <p:txBody>
          <a:bodyPr/>
          <a:lstStyle/>
          <a:p>
            <a:r>
              <a:rPr lang="en-US" sz="2800" dirty="0"/>
              <a:t>Open the Amazon EC2 console.</a:t>
            </a:r>
          </a:p>
          <a:p>
            <a:r>
              <a:rPr lang="en-US" sz="2800" dirty="0"/>
              <a:t>In the navigation pane, under NETWORK &amp; SECURITY, choose Key Pairs.</a:t>
            </a:r>
          </a:p>
          <a:p>
            <a:r>
              <a:rPr lang="en-US" sz="2800" dirty="0"/>
              <a:t>Select the key pair and choose Delete.</a:t>
            </a:r>
          </a:p>
        </p:txBody>
      </p:sp>
      <p:pic>
        <p:nvPicPr>
          <p:cNvPr id="4" name="Picture 3"/>
          <p:cNvPicPr>
            <a:picLocks noChangeAspect="1"/>
          </p:cNvPicPr>
          <p:nvPr/>
        </p:nvPicPr>
        <p:blipFill>
          <a:blip r:embed="rId2"/>
          <a:stretch>
            <a:fillRect/>
          </a:stretch>
        </p:blipFill>
        <p:spPr>
          <a:xfrm>
            <a:off x="904875" y="4267200"/>
            <a:ext cx="7410450" cy="1768675"/>
          </a:xfrm>
          <a:prstGeom prst="rect">
            <a:avLst/>
          </a:prstGeom>
        </p:spPr>
      </p:pic>
    </p:spTree>
    <p:extLst>
      <p:ext uri="{BB962C8B-B14F-4D97-AF65-F5344CB8AC3E}">
        <p14:creationId xmlns:p14="http://schemas.microsoft.com/office/powerpoint/2010/main" val="421871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 Zone</a:t>
            </a:r>
          </a:p>
        </p:txBody>
      </p:sp>
      <p:sp>
        <p:nvSpPr>
          <p:cNvPr id="3" name="Content Placeholder 2"/>
          <p:cNvSpPr>
            <a:spLocks noGrp="1"/>
          </p:cNvSpPr>
          <p:nvPr>
            <p:ph idx="1"/>
          </p:nvPr>
        </p:nvSpPr>
        <p:spPr/>
        <p:txBody>
          <a:bodyPr/>
          <a:lstStyle/>
          <a:p>
            <a:pPr algn="just"/>
            <a:r>
              <a:rPr lang="en-US" sz="2800" dirty="0"/>
              <a:t>On the Configure Instance Details page, select one of the subnet options from the list to launch the instance from an Availability Zone, or select No preference (default subnet in any Availability Zone).</a:t>
            </a:r>
          </a:p>
        </p:txBody>
      </p:sp>
      <p:pic>
        <p:nvPicPr>
          <p:cNvPr id="4" name="Picture 3"/>
          <p:cNvPicPr>
            <a:picLocks noChangeAspect="1"/>
          </p:cNvPicPr>
          <p:nvPr/>
        </p:nvPicPr>
        <p:blipFill>
          <a:blip r:embed="rId2"/>
          <a:stretch>
            <a:fillRect/>
          </a:stretch>
        </p:blipFill>
        <p:spPr>
          <a:xfrm>
            <a:off x="914400" y="4953000"/>
            <a:ext cx="7543800" cy="484178"/>
          </a:xfrm>
          <a:prstGeom prst="rect">
            <a:avLst/>
          </a:prstGeom>
        </p:spPr>
      </p:pic>
    </p:spTree>
    <p:extLst>
      <p:ext uri="{BB962C8B-B14F-4D97-AF65-F5344CB8AC3E}">
        <p14:creationId xmlns:p14="http://schemas.microsoft.com/office/powerpoint/2010/main" val="447868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Security Group</a:t>
            </a:r>
          </a:p>
        </p:txBody>
      </p:sp>
      <p:sp>
        <p:nvSpPr>
          <p:cNvPr id="3" name="Content Placeholder 2"/>
          <p:cNvSpPr>
            <a:spLocks noGrp="1"/>
          </p:cNvSpPr>
          <p:nvPr>
            <p:ph idx="1"/>
          </p:nvPr>
        </p:nvSpPr>
        <p:spPr/>
        <p:txBody>
          <a:bodyPr/>
          <a:lstStyle/>
          <a:p>
            <a:pPr algn="just"/>
            <a:r>
              <a:rPr lang="en-US" sz="2800" dirty="0"/>
              <a:t>Security group acts as a virtual firewall that controls the network traffic for one or more EC2 instances. </a:t>
            </a:r>
          </a:p>
          <a:p>
            <a:pPr algn="just"/>
            <a:r>
              <a:rPr lang="en-US" sz="2800" dirty="0"/>
              <a:t>A default security group allows all inbound traffic from other instances associated with the default security group, and all outbound traffic from the instance.</a:t>
            </a:r>
          </a:p>
        </p:txBody>
      </p:sp>
    </p:spTree>
    <p:extLst>
      <p:ext uri="{BB962C8B-B14F-4D97-AF65-F5344CB8AC3E}">
        <p14:creationId xmlns:p14="http://schemas.microsoft.com/office/powerpoint/2010/main" val="404792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Security Group</a:t>
            </a:r>
          </a:p>
        </p:txBody>
      </p:sp>
      <p:sp>
        <p:nvSpPr>
          <p:cNvPr id="3" name="Content Placeholder 2"/>
          <p:cNvSpPr>
            <a:spLocks noGrp="1"/>
          </p:cNvSpPr>
          <p:nvPr>
            <p:ph idx="1"/>
          </p:nvPr>
        </p:nvSpPr>
        <p:spPr/>
        <p:txBody>
          <a:bodyPr/>
          <a:lstStyle/>
          <a:p>
            <a:pPr algn="just"/>
            <a:r>
              <a:rPr lang="en-US" sz="2400" dirty="0"/>
              <a:t>In the Amazon EC2 console navigation pane, choose Security Groups and choose Create Security Group.</a:t>
            </a:r>
          </a:p>
          <a:p>
            <a:pPr algn="just"/>
            <a:r>
              <a:rPr lang="en-US" sz="2400" dirty="0"/>
              <a:t>To add a rule to a security group for inbound SSH traffic, in the details pane, on the Inbound tab, choose Edit. In the dialog, choose Add Rule, and then choose SSH from the Type list. In the Source field, choose My IP.</a:t>
            </a:r>
          </a:p>
        </p:txBody>
      </p:sp>
      <p:pic>
        <p:nvPicPr>
          <p:cNvPr id="4" name="Picture 3"/>
          <p:cNvPicPr>
            <a:picLocks noChangeAspect="1"/>
          </p:cNvPicPr>
          <p:nvPr/>
        </p:nvPicPr>
        <p:blipFill>
          <a:blip r:embed="rId2"/>
          <a:stretch>
            <a:fillRect/>
          </a:stretch>
        </p:blipFill>
        <p:spPr>
          <a:xfrm>
            <a:off x="1062037" y="5189520"/>
            <a:ext cx="7096125" cy="971550"/>
          </a:xfrm>
          <a:prstGeom prst="rect">
            <a:avLst/>
          </a:prstGeom>
        </p:spPr>
      </p:pic>
    </p:spTree>
    <p:extLst>
      <p:ext uri="{BB962C8B-B14F-4D97-AF65-F5344CB8AC3E}">
        <p14:creationId xmlns:p14="http://schemas.microsoft.com/office/powerpoint/2010/main" val="1949653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489E-5A8D-4F56-9A72-D8A6CDC97CA9}"/>
              </a:ext>
            </a:extLst>
          </p:cNvPr>
          <p:cNvSpPr>
            <a:spLocks noGrp="1"/>
          </p:cNvSpPr>
          <p:nvPr>
            <p:ph type="title"/>
          </p:nvPr>
        </p:nvSpPr>
        <p:spPr/>
        <p:txBody>
          <a:bodyPr/>
          <a:lstStyle/>
          <a:p>
            <a:r>
              <a:rPr lang="en-US" dirty="0"/>
              <a:t>Custom Security Group</a:t>
            </a:r>
          </a:p>
        </p:txBody>
      </p:sp>
      <p:pic>
        <p:nvPicPr>
          <p:cNvPr id="5" name="Content Placeholder 4">
            <a:extLst>
              <a:ext uri="{FF2B5EF4-FFF2-40B4-BE49-F238E27FC236}">
                <a16:creationId xmlns:a16="http://schemas.microsoft.com/office/drawing/2014/main" id="{02A1C636-8FB8-4F61-89F2-D5A9B6DBE1F2}"/>
              </a:ext>
            </a:extLst>
          </p:cNvPr>
          <p:cNvPicPr>
            <a:picLocks noGrp="1" noChangeAspect="1"/>
          </p:cNvPicPr>
          <p:nvPr>
            <p:ph idx="1"/>
          </p:nvPr>
        </p:nvPicPr>
        <p:blipFill>
          <a:blip r:embed="rId2"/>
          <a:stretch>
            <a:fillRect/>
          </a:stretch>
        </p:blipFill>
        <p:spPr>
          <a:xfrm>
            <a:off x="762000" y="2294365"/>
            <a:ext cx="7696200" cy="3259869"/>
          </a:xfrm>
        </p:spPr>
      </p:pic>
    </p:spTree>
    <p:extLst>
      <p:ext uri="{BB962C8B-B14F-4D97-AF65-F5344CB8AC3E}">
        <p14:creationId xmlns:p14="http://schemas.microsoft.com/office/powerpoint/2010/main" val="101044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Instance Security Group</a:t>
            </a:r>
          </a:p>
        </p:txBody>
      </p:sp>
      <p:sp>
        <p:nvSpPr>
          <p:cNvPr id="3" name="Content Placeholder 2"/>
          <p:cNvSpPr>
            <a:spLocks noGrp="1"/>
          </p:cNvSpPr>
          <p:nvPr>
            <p:ph idx="1"/>
          </p:nvPr>
        </p:nvSpPr>
        <p:spPr>
          <a:xfrm>
            <a:off x="762000" y="1828800"/>
            <a:ext cx="7696200" cy="4114800"/>
          </a:xfrm>
        </p:spPr>
        <p:txBody>
          <a:bodyPr/>
          <a:lstStyle/>
          <a:p>
            <a:pPr algn="just"/>
            <a:r>
              <a:rPr lang="en-US" sz="2400" dirty="0"/>
              <a:t>In the Amazon EC2 console navigation pane, choose Instances.</a:t>
            </a:r>
          </a:p>
          <a:p>
            <a:pPr algn="just"/>
            <a:r>
              <a:rPr lang="en-US" sz="2400" dirty="0"/>
              <a:t>Open the context (right-click) menu for the instance and choose Networking, Change Security Groups.</a:t>
            </a:r>
          </a:p>
        </p:txBody>
      </p:sp>
      <p:pic>
        <p:nvPicPr>
          <p:cNvPr id="4" name="Picture 3"/>
          <p:cNvPicPr>
            <a:picLocks noChangeAspect="1"/>
          </p:cNvPicPr>
          <p:nvPr/>
        </p:nvPicPr>
        <p:blipFill>
          <a:blip r:embed="rId2"/>
          <a:stretch>
            <a:fillRect/>
          </a:stretch>
        </p:blipFill>
        <p:spPr>
          <a:xfrm>
            <a:off x="3048000" y="3626555"/>
            <a:ext cx="3124200" cy="2545645"/>
          </a:xfrm>
          <a:prstGeom prst="rect">
            <a:avLst/>
          </a:prstGeom>
        </p:spPr>
      </p:pic>
    </p:spTree>
    <p:extLst>
      <p:ext uri="{BB962C8B-B14F-4D97-AF65-F5344CB8AC3E}">
        <p14:creationId xmlns:p14="http://schemas.microsoft.com/office/powerpoint/2010/main" val="3898191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EBS</a:t>
            </a:r>
          </a:p>
        </p:txBody>
      </p:sp>
      <p:sp>
        <p:nvSpPr>
          <p:cNvPr id="3" name="Content Placeholder 2"/>
          <p:cNvSpPr>
            <a:spLocks noGrp="1"/>
          </p:cNvSpPr>
          <p:nvPr>
            <p:ph idx="1"/>
          </p:nvPr>
        </p:nvSpPr>
        <p:spPr>
          <a:xfrm>
            <a:off x="762000" y="1905000"/>
            <a:ext cx="7696200" cy="4038600"/>
          </a:xfrm>
        </p:spPr>
        <p:txBody>
          <a:bodyPr/>
          <a:lstStyle/>
          <a:p>
            <a:pPr algn="just"/>
            <a:r>
              <a:rPr lang="en-US" sz="2800" dirty="0"/>
              <a:t>Amazon Elastic Block Store (EBS) is a volume based storage system to store persistent data. </a:t>
            </a:r>
          </a:p>
          <a:p>
            <a:pPr algn="just"/>
            <a:r>
              <a:rPr lang="en-US" sz="2800" dirty="0"/>
              <a:t>EBS is not associated with any particular EC2 instance. Rather, it is attached to EC2 instances to provide additional storage.</a:t>
            </a:r>
          </a:p>
          <a:p>
            <a:pPr algn="just"/>
            <a:r>
              <a:rPr lang="en-US" sz="2800" dirty="0"/>
              <a:t>Three types of volume, General Purpose (SSD), Provisioned IOPS (SSD), and Magnetic.</a:t>
            </a:r>
          </a:p>
        </p:txBody>
      </p:sp>
    </p:spTree>
    <p:extLst>
      <p:ext uri="{BB962C8B-B14F-4D97-AF65-F5344CB8AC3E}">
        <p14:creationId xmlns:p14="http://schemas.microsoft.com/office/powerpoint/2010/main" val="2248649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EBS Volume Types</a:t>
            </a:r>
          </a:p>
        </p:txBody>
      </p:sp>
      <p:sp>
        <p:nvSpPr>
          <p:cNvPr id="3" name="Content Placeholder 2"/>
          <p:cNvSpPr>
            <a:spLocks noGrp="1"/>
          </p:cNvSpPr>
          <p:nvPr>
            <p:ph idx="1"/>
          </p:nvPr>
        </p:nvSpPr>
        <p:spPr>
          <a:xfrm>
            <a:off x="762000" y="1676400"/>
            <a:ext cx="7696200" cy="4267200"/>
          </a:xfrm>
        </p:spPr>
        <p:txBody>
          <a:bodyPr/>
          <a:lstStyle/>
          <a:p>
            <a:pPr algn="just"/>
            <a:r>
              <a:rPr lang="en-US" sz="2400" dirty="0"/>
              <a:t>EBS General Purpose (SSD) is suitable for small and medium workloads like Root disk EC2 volumes, small and medium database workloads, frequently logs accessing workloads, etc.</a:t>
            </a:r>
          </a:p>
          <a:p>
            <a:pPr algn="just"/>
            <a:r>
              <a:rPr lang="en-US" sz="2400" dirty="0"/>
              <a:t>Provisioned IOPS (SSD) is suitable for the most demanding I/O intensive, transactional workloads and large relational, EMR and Hadoop workloads, etc.</a:t>
            </a:r>
          </a:p>
          <a:p>
            <a:pPr algn="just"/>
            <a:r>
              <a:rPr lang="en-US" sz="2400" dirty="0"/>
              <a:t>EBS Magnetic Volumes was formerly known as standard volumes. This volume type is suitable for ideal workloads like infrequently accessing data, i.e. data backups for recovery, logs storage, etc. </a:t>
            </a:r>
          </a:p>
        </p:txBody>
      </p:sp>
    </p:spTree>
    <p:extLst>
      <p:ext uri="{BB962C8B-B14F-4D97-AF65-F5344CB8AC3E}">
        <p14:creationId xmlns:p14="http://schemas.microsoft.com/office/powerpoint/2010/main" val="392246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Modifying EBS Volume</a:t>
            </a:r>
          </a:p>
        </p:txBody>
      </p:sp>
      <p:sp>
        <p:nvSpPr>
          <p:cNvPr id="3" name="Content Placeholder 2"/>
          <p:cNvSpPr>
            <a:spLocks noGrp="1"/>
          </p:cNvSpPr>
          <p:nvPr>
            <p:ph idx="1"/>
          </p:nvPr>
        </p:nvSpPr>
        <p:spPr>
          <a:xfrm>
            <a:off x="762000" y="1752600"/>
            <a:ext cx="7772400" cy="4191000"/>
          </a:xfrm>
        </p:spPr>
        <p:txBody>
          <a:bodyPr/>
          <a:lstStyle/>
          <a:p>
            <a:pPr algn="just"/>
            <a:r>
              <a:rPr lang="en-US" sz="2800" dirty="0"/>
              <a:t>Open the Amazon EC2 console.</a:t>
            </a:r>
          </a:p>
          <a:p>
            <a:pPr algn="just"/>
            <a:r>
              <a:rPr lang="en-US" sz="2800" dirty="0"/>
              <a:t>Select Volumes in the navigation pane. Choose a volume and click the Actions menu.</a:t>
            </a:r>
          </a:p>
        </p:txBody>
      </p:sp>
      <p:pic>
        <p:nvPicPr>
          <p:cNvPr id="4" name="Picture 3"/>
          <p:cNvPicPr>
            <a:picLocks noChangeAspect="1"/>
          </p:cNvPicPr>
          <p:nvPr/>
        </p:nvPicPr>
        <p:blipFill>
          <a:blip r:embed="rId2"/>
          <a:stretch>
            <a:fillRect/>
          </a:stretch>
        </p:blipFill>
        <p:spPr>
          <a:xfrm>
            <a:off x="1323975" y="3505813"/>
            <a:ext cx="6572250" cy="2688648"/>
          </a:xfrm>
          <a:prstGeom prst="rect">
            <a:avLst/>
          </a:prstGeom>
        </p:spPr>
      </p:pic>
    </p:spTree>
    <p:extLst>
      <p:ext uri="{BB962C8B-B14F-4D97-AF65-F5344CB8AC3E}">
        <p14:creationId xmlns:p14="http://schemas.microsoft.com/office/powerpoint/2010/main" val="2640443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EBS Volume</a:t>
            </a:r>
          </a:p>
        </p:txBody>
      </p:sp>
      <p:sp>
        <p:nvSpPr>
          <p:cNvPr id="3" name="Content Placeholder 2"/>
          <p:cNvSpPr>
            <a:spLocks noGrp="1"/>
          </p:cNvSpPr>
          <p:nvPr>
            <p:ph idx="1"/>
          </p:nvPr>
        </p:nvSpPr>
        <p:spPr>
          <a:xfrm>
            <a:off x="609600" y="1905000"/>
            <a:ext cx="3863511" cy="4038600"/>
          </a:xfrm>
        </p:spPr>
        <p:txBody>
          <a:bodyPr/>
          <a:lstStyle/>
          <a:p>
            <a:pPr algn="just"/>
            <a:r>
              <a:rPr lang="en-US" sz="2000" dirty="0"/>
              <a:t>Open the Amazon EC2 console.</a:t>
            </a:r>
          </a:p>
          <a:p>
            <a:pPr algn="just"/>
            <a:r>
              <a:rPr lang="en-US" sz="2000" dirty="0"/>
              <a:t>In the navigation pane, select Volumes, then select Create Volume.</a:t>
            </a:r>
          </a:p>
          <a:p>
            <a:pPr algn="just"/>
            <a:r>
              <a:rPr lang="en-US" sz="2000" dirty="0"/>
              <a:t>The new volume zone must be in the same zone with the instance which the volume would be attached to.</a:t>
            </a:r>
          </a:p>
          <a:p>
            <a:pPr algn="just"/>
            <a:r>
              <a:rPr lang="en-US" sz="2000" dirty="0"/>
              <a:t>Attaching a volume to an instance or deleting a volume must have volume state as “available”.</a:t>
            </a:r>
          </a:p>
        </p:txBody>
      </p:sp>
      <p:pic>
        <p:nvPicPr>
          <p:cNvPr id="7" name="Picture 6"/>
          <p:cNvPicPr>
            <a:picLocks noChangeAspect="1"/>
          </p:cNvPicPr>
          <p:nvPr/>
        </p:nvPicPr>
        <p:blipFill>
          <a:blip r:embed="rId2"/>
          <a:stretch>
            <a:fillRect/>
          </a:stretch>
        </p:blipFill>
        <p:spPr>
          <a:xfrm>
            <a:off x="4625511" y="1905000"/>
            <a:ext cx="3988513" cy="4283752"/>
          </a:xfrm>
          <a:prstGeom prst="rect">
            <a:avLst/>
          </a:prstGeom>
        </p:spPr>
      </p:pic>
    </p:spTree>
    <p:extLst>
      <p:ext uri="{BB962C8B-B14F-4D97-AF65-F5344CB8AC3E}">
        <p14:creationId xmlns:p14="http://schemas.microsoft.com/office/powerpoint/2010/main" val="352841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Attaching EBS Volume</a:t>
            </a:r>
          </a:p>
        </p:txBody>
      </p:sp>
      <p:pic>
        <p:nvPicPr>
          <p:cNvPr id="6" name="Picture 5"/>
          <p:cNvPicPr>
            <a:picLocks noChangeAspect="1"/>
          </p:cNvPicPr>
          <p:nvPr/>
        </p:nvPicPr>
        <p:blipFill>
          <a:blip r:embed="rId3"/>
          <a:stretch>
            <a:fillRect/>
          </a:stretch>
        </p:blipFill>
        <p:spPr>
          <a:xfrm>
            <a:off x="762000" y="1904999"/>
            <a:ext cx="7696200" cy="1603573"/>
          </a:xfrm>
          <a:prstGeom prst="rect">
            <a:avLst/>
          </a:prstGeom>
        </p:spPr>
      </p:pic>
      <p:pic>
        <p:nvPicPr>
          <p:cNvPr id="7" name="Picture 6"/>
          <p:cNvPicPr>
            <a:picLocks noChangeAspect="1"/>
          </p:cNvPicPr>
          <p:nvPr/>
        </p:nvPicPr>
        <p:blipFill>
          <a:blip r:embed="rId4"/>
          <a:stretch>
            <a:fillRect/>
          </a:stretch>
        </p:blipFill>
        <p:spPr>
          <a:xfrm>
            <a:off x="1538272" y="3886200"/>
            <a:ext cx="6143656" cy="2209800"/>
          </a:xfrm>
          <a:prstGeom prst="rect">
            <a:avLst/>
          </a:prstGeom>
        </p:spPr>
      </p:pic>
    </p:spTree>
    <p:extLst>
      <p:ext uri="{BB962C8B-B14F-4D97-AF65-F5344CB8AC3E}">
        <p14:creationId xmlns:p14="http://schemas.microsoft.com/office/powerpoint/2010/main" val="55394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B719-CE27-591B-D0CC-91BA8BB8179D}"/>
              </a:ext>
            </a:extLst>
          </p:cNvPr>
          <p:cNvSpPr>
            <a:spLocks noGrp="1"/>
          </p:cNvSpPr>
          <p:nvPr>
            <p:ph type="title"/>
          </p:nvPr>
        </p:nvSpPr>
        <p:spPr/>
        <p:txBody>
          <a:bodyPr/>
          <a:lstStyle/>
          <a:p>
            <a:r>
              <a:rPr lang="en-US" dirty="0"/>
              <a:t>Device Name</a:t>
            </a:r>
          </a:p>
        </p:txBody>
      </p:sp>
      <p:sp>
        <p:nvSpPr>
          <p:cNvPr id="3" name="Content Placeholder 2">
            <a:extLst>
              <a:ext uri="{FF2B5EF4-FFF2-40B4-BE49-F238E27FC236}">
                <a16:creationId xmlns:a16="http://schemas.microsoft.com/office/drawing/2014/main" id="{7B331882-3862-56F7-C0D5-2455262AAE4F}"/>
              </a:ext>
            </a:extLst>
          </p:cNvPr>
          <p:cNvSpPr>
            <a:spLocks noGrp="1"/>
          </p:cNvSpPr>
          <p:nvPr>
            <p:ph idx="1"/>
          </p:nvPr>
        </p:nvSpPr>
        <p:spPr/>
        <p:txBody>
          <a:bodyPr/>
          <a:lstStyle/>
          <a:p>
            <a:pPr algn="just"/>
            <a:r>
              <a:rPr lang="en-US" dirty="0"/>
              <a:t>/dev/sda1 is reserved for root volume.</a:t>
            </a:r>
          </a:p>
          <a:p>
            <a:pPr algn="just"/>
            <a:r>
              <a:rPr lang="en-US" dirty="0"/>
              <a:t>/def/</a:t>
            </a:r>
            <a:r>
              <a:rPr lang="en-US" dirty="0" err="1"/>
              <a:t>sd</a:t>
            </a:r>
            <a:r>
              <a:rPr lang="en-US" dirty="0"/>
              <a:t>[f-p][1-6] is recommended for other EBS volume.</a:t>
            </a:r>
          </a:p>
        </p:txBody>
      </p:sp>
    </p:spTree>
    <p:extLst>
      <p:ext uri="{BB962C8B-B14F-4D97-AF65-F5344CB8AC3E}">
        <p14:creationId xmlns:p14="http://schemas.microsoft.com/office/powerpoint/2010/main" val="3561566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Address</a:t>
            </a:r>
          </a:p>
        </p:txBody>
      </p:sp>
      <p:sp>
        <p:nvSpPr>
          <p:cNvPr id="3" name="Content Placeholder 2"/>
          <p:cNvSpPr>
            <a:spLocks noGrp="1"/>
          </p:cNvSpPr>
          <p:nvPr>
            <p:ph idx="1"/>
          </p:nvPr>
        </p:nvSpPr>
        <p:spPr/>
        <p:txBody>
          <a:bodyPr/>
          <a:lstStyle/>
          <a:p>
            <a:pPr algn="just"/>
            <a:r>
              <a:rPr lang="en-US" sz="2800" dirty="0"/>
              <a:t>When an instance is launched, AWS assigns it an IP address. Every time the instance is stopped, this IP address vanishes.</a:t>
            </a:r>
          </a:p>
          <a:p>
            <a:pPr algn="just"/>
            <a:r>
              <a:rPr lang="en-US" sz="2800" dirty="0"/>
              <a:t>An Elastic IP (EIP) can be requested to assign to instance every time when the instance is started, so the same IP address is kept.</a:t>
            </a:r>
          </a:p>
          <a:p>
            <a:pPr algn="just"/>
            <a:r>
              <a:rPr lang="en-US" sz="2800" dirty="0"/>
              <a:t>EIP can be created from EC2 dashboard.</a:t>
            </a:r>
          </a:p>
        </p:txBody>
      </p:sp>
    </p:spTree>
    <p:extLst>
      <p:ext uri="{BB962C8B-B14F-4D97-AF65-F5344CB8AC3E}">
        <p14:creationId xmlns:p14="http://schemas.microsoft.com/office/powerpoint/2010/main" val="4147548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838200" y="533400"/>
            <a:ext cx="7696200" cy="2813795"/>
          </a:xfrm>
          <a:prstGeom prst="rect">
            <a:avLst/>
          </a:prstGeom>
        </p:spPr>
      </p:pic>
      <p:pic>
        <p:nvPicPr>
          <p:cNvPr id="7" name="Picture 6"/>
          <p:cNvPicPr>
            <a:picLocks noChangeAspect="1"/>
          </p:cNvPicPr>
          <p:nvPr/>
        </p:nvPicPr>
        <p:blipFill>
          <a:blip r:embed="rId3"/>
          <a:stretch>
            <a:fillRect/>
          </a:stretch>
        </p:blipFill>
        <p:spPr>
          <a:xfrm>
            <a:off x="838200" y="3657600"/>
            <a:ext cx="7696200" cy="2514600"/>
          </a:xfrm>
          <a:prstGeom prst="rect">
            <a:avLst/>
          </a:prstGeom>
        </p:spPr>
      </p:pic>
    </p:spTree>
    <p:extLst>
      <p:ext uri="{BB962C8B-B14F-4D97-AF65-F5344CB8AC3E}">
        <p14:creationId xmlns:p14="http://schemas.microsoft.com/office/powerpoint/2010/main" val="3646005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Connecting to EC2 with Python</a:t>
            </a:r>
          </a:p>
        </p:txBody>
      </p:sp>
      <p:sp>
        <p:nvSpPr>
          <p:cNvPr id="3" name="Content Placeholder 2"/>
          <p:cNvSpPr>
            <a:spLocks noGrp="1"/>
          </p:cNvSpPr>
          <p:nvPr>
            <p:ph idx="1"/>
          </p:nvPr>
        </p:nvSpPr>
        <p:spPr/>
        <p:txBody>
          <a:bodyPr/>
          <a:lstStyle/>
          <a:p>
            <a:r>
              <a:rPr lang="en-US" sz="2400" dirty="0"/>
              <a:t>Connecting with AWS default credentials</a:t>
            </a:r>
          </a:p>
          <a:p>
            <a:pPr marL="800100" lvl="2" indent="0">
              <a:buNone/>
            </a:pPr>
            <a:r>
              <a:rPr lang="en-US" dirty="0"/>
              <a:t>import boto3</a:t>
            </a:r>
          </a:p>
          <a:p>
            <a:pPr marL="800100" lvl="2" indent="0">
              <a:buNone/>
            </a:pPr>
            <a:r>
              <a:rPr lang="en-US" dirty="0"/>
              <a:t>ec2 = boto3.resource('ec2', </a:t>
            </a:r>
            <a:r>
              <a:rPr lang="en-US" dirty="0" err="1"/>
              <a:t>region_name</a:t>
            </a:r>
            <a:r>
              <a:rPr lang="en-US" dirty="0"/>
              <a:t>='us-east-1')</a:t>
            </a:r>
          </a:p>
          <a:p>
            <a:pPr marL="800100" lvl="2" indent="0">
              <a:buNone/>
            </a:pPr>
            <a:endParaRPr lang="en-US" dirty="0"/>
          </a:p>
          <a:p>
            <a:r>
              <a:rPr lang="en-US" sz="2400" dirty="0"/>
              <a:t>Passing credentials as parameters</a:t>
            </a:r>
          </a:p>
          <a:p>
            <a:pPr marL="800100" lvl="2" indent="0">
              <a:buNone/>
            </a:pPr>
            <a:r>
              <a:rPr lang="en-US" sz="2000" dirty="0"/>
              <a:t>import boto3</a:t>
            </a:r>
          </a:p>
          <a:p>
            <a:pPr marL="800100" lvl="2" indent="0">
              <a:buNone/>
            </a:pPr>
            <a:r>
              <a:rPr lang="en-US" sz="2000" dirty="0"/>
              <a:t>ec2 = boto3.resource(</a:t>
            </a:r>
          </a:p>
          <a:p>
            <a:pPr marL="800100" lvl="2" indent="0">
              <a:buNone/>
            </a:pPr>
            <a:r>
              <a:rPr lang="en-US" sz="2000" dirty="0"/>
              <a:t>    'ec2', </a:t>
            </a:r>
            <a:r>
              <a:rPr lang="en-US" sz="2000" dirty="0" err="1"/>
              <a:t>region_name</a:t>
            </a:r>
            <a:r>
              <a:rPr lang="en-US" sz="2000" dirty="0"/>
              <a:t>='us-east-1',</a:t>
            </a:r>
          </a:p>
          <a:p>
            <a:pPr marL="800100" lvl="2" indent="0">
              <a:buNone/>
            </a:pPr>
            <a:r>
              <a:rPr lang="en-US" sz="2000" dirty="0"/>
              <a:t>    </a:t>
            </a:r>
            <a:r>
              <a:rPr lang="en-US" sz="2000" dirty="0" err="1"/>
              <a:t>aws_access_key_id</a:t>
            </a:r>
            <a:r>
              <a:rPr lang="en-US" sz="2000" dirty="0"/>
              <a:t>='AKIAYFO34ZSIO3GU5GJF',</a:t>
            </a:r>
          </a:p>
          <a:p>
            <a:pPr marL="800100" lvl="2" indent="0">
              <a:buNone/>
            </a:pPr>
            <a:r>
              <a:rPr lang="en-US" sz="2000" dirty="0"/>
              <a:t>    </a:t>
            </a:r>
            <a:r>
              <a:rPr lang="en-US" sz="2000" dirty="0" err="1"/>
              <a:t>aws_secret_access_key</a:t>
            </a:r>
            <a:r>
              <a:rPr lang="en-US" sz="2000" dirty="0"/>
              <a:t>='</a:t>
            </a:r>
            <a:r>
              <a:rPr lang="en-US" sz="2000" dirty="0" err="1"/>
              <a:t>pYyPwb</a:t>
            </a:r>
            <a:r>
              <a:rPr lang="en-US" sz="2000" dirty="0"/>
              <a:t>/</a:t>
            </a:r>
            <a:r>
              <a:rPr lang="en-US" sz="2000" dirty="0" err="1"/>
              <a:t>ApfhYZfppH</a:t>
            </a:r>
            <a:r>
              <a:rPr lang="en-US" sz="2000" dirty="0"/>
              <a:t>/</a:t>
            </a:r>
            <a:r>
              <a:rPr lang="en-US" sz="2000" dirty="0" err="1"/>
              <a:t>TtPV</a:t>
            </a:r>
            <a:r>
              <a:rPr lang="en-US" sz="2000" dirty="0"/>
              <a:t>',</a:t>
            </a:r>
          </a:p>
          <a:p>
            <a:pPr marL="800100" lvl="2" indent="0">
              <a:buNone/>
            </a:pPr>
            <a:r>
              <a:rPr lang="en-US" sz="2000" dirty="0"/>
              <a:t>)</a:t>
            </a:r>
          </a:p>
        </p:txBody>
      </p:sp>
    </p:spTree>
    <p:extLst>
      <p:ext uri="{BB962C8B-B14F-4D97-AF65-F5344CB8AC3E}">
        <p14:creationId xmlns:p14="http://schemas.microsoft.com/office/powerpoint/2010/main" val="585361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Listing EC2 All Instances</a:t>
            </a:r>
          </a:p>
        </p:txBody>
      </p:sp>
      <p:sp>
        <p:nvSpPr>
          <p:cNvPr id="3" name="Content Placeholder 2"/>
          <p:cNvSpPr>
            <a:spLocks noGrp="1"/>
          </p:cNvSpPr>
          <p:nvPr>
            <p:ph idx="1"/>
          </p:nvPr>
        </p:nvSpPr>
        <p:spPr>
          <a:xfrm>
            <a:off x="762000" y="1905000"/>
            <a:ext cx="7924800" cy="4038600"/>
          </a:xfrm>
        </p:spPr>
        <p:txBody>
          <a:bodyPr/>
          <a:lstStyle/>
          <a:p>
            <a:pPr marL="0" indent="0">
              <a:buNone/>
            </a:pPr>
            <a:r>
              <a:rPr lang="en-US" sz="2800" dirty="0"/>
              <a:t>for </a:t>
            </a:r>
            <a:r>
              <a:rPr lang="en-US" sz="2800" dirty="0" err="1"/>
              <a:t>i</a:t>
            </a:r>
            <a:r>
              <a:rPr lang="en-US" sz="2800" dirty="0"/>
              <a:t> in ec2.instances.all():</a:t>
            </a:r>
          </a:p>
          <a:p>
            <a:pPr marL="0" indent="0">
              <a:buNone/>
            </a:pPr>
            <a:r>
              <a:rPr lang="en-US" sz="2800" dirty="0"/>
              <a:t>    print("Instance Id " + i.id + ", " +</a:t>
            </a:r>
          </a:p>
          <a:p>
            <a:pPr marL="0" indent="0">
              <a:buNone/>
            </a:pPr>
            <a:r>
              <a:rPr lang="en-US" sz="2800" dirty="0"/>
              <a:t>             "Instance AMI " + </a:t>
            </a:r>
            <a:r>
              <a:rPr lang="en-US" sz="2800" dirty="0" err="1"/>
              <a:t>i.image_id</a:t>
            </a:r>
            <a:r>
              <a:rPr lang="en-US" sz="2800" dirty="0"/>
              <a:t> + ", " +</a:t>
            </a:r>
          </a:p>
          <a:p>
            <a:pPr marL="0" indent="0">
              <a:buNone/>
            </a:pPr>
            <a:r>
              <a:rPr lang="en-US" sz="2800" dirty="0"/>
              <a:t>             "Instance type " + </a:t>
            </a:r>
            <a:r>
              <a:rPr lang="en-US" sz="2800" dirty="0" err="1"/>
              <a:t>i.instance_type</a:t>
            </a:r>
            <a:r>
              <a:rPr lang="en-US" sz="2800" dirty="0"/>
              <a:t> + ", " +</a:t>
            </a:r>
          </a:p>
          <a:p>
            <a:pPr marL="0" indent="0">
              <a:buNone/>
            </a:pPr>
            <a:r>
              <a:rPr lang="en-US" sz="2800" dirty="0"/>
              <a:t>             "Instance state " + </a:t>
            </a:r>
            <a:r>
              <a:rPr lang="en-US" sz="2800" dirty="0" err="1"/>
              <a:t>i.state</a:t>
            </a:r>
            <a:r>
              <a:rPr lang="en-US" sz="2800" dirty="0"/>
              <a:t>['Name'])</a:t>
            </a:r>
          </a:p>
        </p:txBody>
      </p:sp>
    </p:spTree>
    <p:extLst>
      <p:ext uri="{BB962C8B-B14F-4D97-AF65-F5344CB8AC3E}">
        <p14:creationId xmlns:p14="http://schemas.microsoft.com/office/powerpoint/2010/main" val="108062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Instance State</a:t>
            </a:r>
          </a:p>
        </p:txBody>
      </p:sp>
      <p:sp>
        <p:nvSpPr>
          <p:cNvPr id="3" name="Content Placeholder 2"/>
          <p:cNvSpPr>
            <a:spLocks noGrp="1"/>
          </p:cNvSpPr>
          <p:nvPr>
            <p:ph idx="1"/>
          </p:nvPr>
        </p:nvSpPr>
        <p:spPr/>
        <p:txBody>
          <a:bodyPr/>
          <a:lstStyle/>
          <a:p>
            <a:pPr marL="0" indent="0">
              <a:buNone/>
            </a:pPr>
            <a:r>
              <a:rPr lang="en-US" dirty="0"/>
              <a:t>	Code	Name</a:t>
            </a:r>
          </a:p>
          <a:p>
            <a:pPr marL="0" indent="0">
              <a:buNone/>
            </a:pPr>
            <a:r>
              <a:rPr lang="en-US" dirty="0"/>
              <a:t>	0		pending</a:t>
            </a:r>
          </a:p>
          <a:p>
            <a:pPr marL="0" indent="0">
              <a:buNone/>
            </a:pPr>
            <a:r>
              <a:rPr lang="en-US" dirty="0"/>
              <a:t>	16		running</a:t>
            </a:r>
          </a:p>
          <a:p>
            <a:pPr marL="0" indent="0">
              <a:buNone/>
            </a:pPr>
            <a:r>
              <a:rPr lang="en-US" dirty="0"/>
              <a:t>	32		shutting-down</a:t>
            </a:r>
          </a:p>
          <a:p>
            <a:pPr marL="0" indent="0">
              <a:buNone/>
            </a:pPr>
            <a:r>
              <a:rPr lang="en-US" dirty="0"/>
              <a:t>	48		terminated</a:t>
            </a:r>
          </a:p>
          <a:p>
            <a:pPr marL="0" indent="0">
              <a:buNone/>
            </a:pPr>
            <a:r>
              <a:rPr lang="en-US" dirty="0"/>
              <a:t>	64		stopping</a:t>
            </a:r>
          </a:p>
          <a:p>
            <a:pPr marL="0" indent="0">
              <a:buNone/>
            </a:pPr>
            <a:r>
              <a:rPr lang="en-US" dirty="0"/>
              <a:t>	80		stopped</a:t>
            </a:r>
          </a:p>
        </p:txBody>
      </p:sp>
    </p:spTree>
    <p:extLst>
      <p:ext uri="{BB962C8B-B14F-4D97-AF65-F5344CB8AC3E}">
        <p14:creationId xmlns:p14="http://schemas.microsoft.com/office/powerpoint/2010/main" val="2375930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EC2 Running Instances</a:t>
            </a:r>
          </a:p>
        </p:txBody>
      </p:sp>
      <p:sp>
        <p:nvSpPr>
          <p:cNvPr id="3" name="Content Placeholder 2"/>
          <p:cNvSpPr>
            <a:spLocks noGrp="1"/>
          </p:cNvSpPr>
          <p:nvPr>
            <p:ph idx="1"/>
          </p:nvPr>
        </p:nvSpPr>
        <p:spPr/>
        <p:txBody>
          <a:bodyPr/>
          <a:lstStyle/>
          <a:p>
            <a:pPr marL="0" indent="0">
              <a:buNone/>
            </a:pPr>
            <a:r>
              <a:rPr lang="en-US" sz="2800" dirty="0"/>
              <a:t>filters = [</a:t>
            </a:r>
          </a:p>
          <a:p>
            <a:pPr marL="0" indent="0">
              <a:buNone/>
            </a:pPr>
            <a:r>
              <a:rPr lang="en-US" sz="2800" dirty="0"/>
              <a:t>        {</a:t>
            </a:r>
          </a:p>
          <a:p>
            <a:pPr marL="0" indent="0">
              <a:buNone/>
            </a:pPr>
            <a:r>
              <a:rPr lang="en-US" sz="2800" dirty="0"/>
              <a:t>            'Name': 'instance-state-name', </a:t>
            </a:r>
          </a:p>
          <a:p>
            <a:pPr marL="0" indent="0">
              <a:buNone/>
            </a:pPr>
            <a:r>
              <a:rPr lang="en-US" sz="2800" dirty="0"/>
              <a:t>            'Values': ['running']</a:t>
            </a:r>
          </a:p>
          <a:p>
            <a:pPr marL="0" indent="0">
              <a:buNone/>
            </a:pPr>
            <a:r>
              <a:rPr lang="en-US" sz="2800" dirty="0"/>
              <a:t>        }</a:t>
            </a:r>
          </a:p>
          <a:p>
            <a:pPr marL="0" indent="0">
              <a:buNone/>
            </a:pPr>
            <a:r>
              <a:rPr lang="en-US" sz="2800" dirty="0"/>
              <a:t>]</a:t>
            </a:r>
          </a:p>
          <a:p>
            <a:pPr marL="0" indent="0">
              <a:buNone/>
            </a:pPr>
            <a:r>
              <a:rPr lang="en-US" sz="2800" dirty="0"/>
              <a:t>for </a:t>
            </a:r>
            <a:r>
              <a:rPr lang="en-US" sz="2800" dirty="0" err="1"/>
              <a:t>i</a:t>
            </a:r>
            <a:r>
              <a:rPr lang="en-US" sz="2800" dirty="0"/>
              <a:t> in ec2.instances.filter(Filters=filters):</a:t>
            </a:r>
          </a:p>
          <a:p>
            <a:pPr marL="0" indent="0">
              <a:buNone/>
            </a:pPr>
            <a:r>
              <a:rPr lang="en-US" sz="2800" dirty="0"/>
              <a:t>    print(i.id)</a:t>
            </a:r>
          </a:p>
        </p:txBody>
      </p:sp>
    </p:spTree>
    <p:extLst>
      <p:ext uri="{BB962C8B-B14F-4D97-AF65-F5344CB8AC3E}">
        <p14:creationId xmlns:p14="http://schemas.microsoft.com/office/powerpoint/2010/main" val="3892484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 Stop, Terminate Instance</a:t>
            </a:r>
          </a:p>
        </p:txBody>
      </p:sp>
      <p:sp>
        <p:nvSpPr>
          <p:cNvPr id="3" name="Content Placeholder 2"/>
          <p:cNvSpPr>
            <a:spLocks noGrp="1"/>
          </p:cNvSpPr>
          <p:nvPr>
            <p:ph idx="1"/>
          </p:nvPr>
        </p:nvSpPr>
        <p:spPr>
          <a:xfrm>
            <a:off x="762000" y="1981200"/>
            <a:ext cx="7696200" cy="4038600"/>
          </a:xfrm>
        </p:spPr>
        <p:txBody>
          <a:bodyPr/>
          <a:lstStyle/>
          <a:p>
            <a:pPr marL="0" indent="0">
              <a:buNone/>
            </a:pPr>
            <a:r>
              <a:rPr lang="en-US" sz="2800" dirty="0"/>
              <a:t>instance = ec2.Instance('i-0f4530e04f5ce6534')</a:t>
            </a:r>
          </a:p>
          <a:p>
            <a:pPr marL="0" indent="0">
              <a:buNone/>
            </a:pPr>
            <a:endParaRPr lang="en-US" sz="2800" dirty="0"/>
          </a:p>
          <a:p>
            <a:pPr marL="0" indent="0">
              <a:buNone/>
            </a:pPr>
            <a:r>
              <a:rPr lang="en-US" sz="2800" dirty="0" err="1"/>
              <a:t>instance.start</a:t>
            </a:r>
            <a:r>
              <a:rPr lang="en-US" sz="2800" dirty="0"/>
              <a:t>()</a:t>
            </a:r>
          </a:p>
          <a:p>
            <a:pPr marL="0" indent="0">
              <a:buNone/>
            </a:pPr>
            <a:r>
              <a:rPr lang="en-US" sz="2800" dirty="0" err="1"/>
              <a:t>instance.wait_until_running</a:t>
            </a:r>
            <a:r>
              <a:rPr lang="en-US" sz="2800" dirty="0"/>
              <a:t>()</a:t>
            </a:r>
          </a:p>
          <a:p>
            <a:pPr marL="0" indent="0">
              <a:buNone/>
            </a:pPr>
            <a:endParaRPr lang="en-US" sz="2800" dirty="0"/>
          </a:p>
          <a:p>
            <a:pPr marL="0" indent="0">
              <a:buNone/>
            </a:pPr>
            <a:r>
              <a:rPr lang="en-US" sz="2800" dirty="0" err="1"/>
              <a:t>instance.stop</a:t>
            </a:r>
            <a:r>
              <a:rPr lang="en-US" sz="2800" dirty="0"/>
              <a:t>()</a:t>
            </a:r>
          </a:p>
          <a:p>
            <a:pPr marL="0" indent="0">
              <a:buNone/>
            </a:pPr>
            <a:endParaRPr lang="en-US" sz="2800" dirty="0"/>
          </a:p>
          <a:p>
            <a:pPr marL="0" indent="0">
              <a:buNone/>
            </a:pPr>
            <a:r>
              <a:rPr lang="en-US" sz="2800" dirty="0" err="1"/>
              <a:t>instance.terminate</a:t>
            </a:r>
            <a:r>
              <a:rPr lang="en-US" sz="2800" dirty="0"/>
              <a:t>()</a:t>
            </a:r>
          </a:p>
        </p:txBody>
      </p:sp>
    </p:spTree>
    <p:extLst>
      <p:ext uri="{BB962C8B-B14F-4D97-AF65-F5344CB8AC3E}">
        <p14:creationId xmlns:p14="http://schemas.microsoft.com/office/powerpoint/2010/main" val="3329693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New Key Pair</a:t>
            </a:r>
          </a:p>
        </p:txBody>
      </p:sp>
      <p:sp>
        <p:nvSpPr>
          <p:cNvPr id="3" name="Content Placeholder 2"/>
          <p:cNvSpPr>
            <a:spLocks noGrp="1"/>
          </p:cNvSpPr>
          <p:nvPr>
            <p:ph idx="1"/>
          </p:nvPr>
        </p:nvSpPr>
        <p:spPr>
          <a:xfrm>
            <a:off x="762000" y="1905000"/>
            <a:ext cx="8001000" cy="4038600"/>
          </a:xfrm>
        </p:spPr>
        <p:txBody>
          <a:bodyPr/>
          <a:lstStyle/>
          <a:p>
            <a:pPr marL="0" indent="0">
              <a:buNone/>
            </a:pPr>
            <a:r>
              <a:rPr lang="en-US" sz="2400" dirty="0"/>
              <a:t># create a new EC2 key pair</a:t>
            </a:r>
          </a:p>
          <a:p>
            <a:pPr marL="0" indent="0">
              <a:buNone/>
            </a:pPr>
            <a:r>
              <a:rPr lang="en-US" sz="2400" dirty="0" err="1"/>
              <a:t>outfile</a:t>
            </a:r>
            <a:r>
              <a:rPr lang="en-US" sz="2400" dirty="0"/>
              <a:t> = open('C:\\Downloads\\ec2keypair.pem','w')</a:t>
            </a:r>
          </a:p>
          <a:p>
            <a:pPr marL="0" indent="0">
              <a:buNone/>
            </a:pPr>
            <a:r>
              <a:rPr lang="en-US" sz="2400" dirty="0" err="1"/>
              <a:t>key_pair</a:t>
            </a:r>
            <a:r>
              <a:rPr lang="en-US" sz="2400" dirty="0"/>
              <a:t> = ec2.create_key_pair(</a:t>
            </a:r>
            <a:r>
              <a:rPr lang="en-US" sz="2400" dirty="0" err="1"/>
              <a:t>KeyName</a:t>
            </a:r>
            <a:r>
              <a:rPr lang="en-US" sz="2400" dirty="0"/>
              <a:t>='ec2keypair')</a:t>
            </a:r>
          </a:p>
          <a:p>
            <a:pPr marL="0" indent="0">
              <a:buNone/>
            </a:pPr>
            <a:r>
              <a:rPr lang="en-US" sz="2400" dirty="0" err="1"/>
              <a:t>KeyPairOut</a:t>
            </a:r>
            <a:r>
              <a:rPr lang="en-US" sz="2400" dirty="0"/>
              <a:t> = </a:t>
            </a:r>
            <a:r>
              <a:rPr lang="en-US" sz="2400" dirty="0" err="1"/>
              <a:t>str</a:t>
            </a:r>
            <a:r>
              <a:rPr lang="en-US" sz="2400" dirty="0"/>
              <a:t>(</a:t>
            </a:r>
            <a:r>
              <a:rPr lang="en-US" sz="2400" dirty="0" err="1"/>
              <a:t>key_pair.key_material</a:t>
            </a:r>
            <a:r>
              <a:rPr lang="en-US" sz="2400" dirty="0"/>
              <a:t>)</a:t>
            </a:r>
          </a:p>
          <a:p>
            <a:pPr marL="0" indent="0">
              <a:buNone/>
            </a:pPr>
            <a:r>
              <a:rPr lang="en-US" sz="2400" dirty="0"/>
              <a:t>print(</a:t>
            </a:r>
            <a:r>
              <a:rPr lang="en-US" sz="2400" dirty="0" err="1"/>
              <a:t>KeyPairOut</a:t>
            </a:r>
            <a:r>
              <a:rPr lang="en-US" sz="2400" dirty="0"/>
              <a:t>)</a:t>
            </a:r>
          </a:p>
          <a:p>
            <a:pPr marL="0" indent="0">
              <a:buNone/>
            </a:pPr>
            <a:r>
              <a:rPr lang="en-US" sz="2400" dirty="0" err="1"/>
              <a:t>outfile.write</a:t>
            </a:r>
            <a:r>
              <a:rPr lang="en-US" sz="2400" dirty="0"/>
              <a:t>(</a:t>
            </a:r>
            <a:r>
              <a:rPr lang="en-US" sz="2400" dirty="0" err="1"/>
              <a:t>KeyPairOut</a:t>
            </a:r>
            <a:r>
              <a:rPr lang="en-US" sz="2400" dirty="0"/>
              <a:t>)</a:t>
            </a:r>
          </a:p>
          <a:p>
            <a:pPr marL="0" indent="0">
              <a:buNone/>
            </a:pPr>
            <a:r>
              <a:rPr lang="en-US" sz="2400" dirty="0" err="1"/>
              <a:t>outfile.close</a:t>
            </a:r>
            <a:r>
              <a:rPr lang="en-US" sz="2400" dirty="0"/>
              <a:t>()</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4101107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New Security Group</a:t>
            </a:r>
          </a:p>
        </p:txBody>
      </p:sp>
      <p:sp>
        <p:nvSpPr>
          <p:cNvPr id="3" name="Content Placeholder 2"/>
          <p:cNvSpPr>
            <a:spLocks noGrp="1"/>
          </p:cNvSpPr>
          <p:nvPr>
            <p:ph idx="1"/>
          </p:nvPr>
        </p:nvSpPr>
        <p:spPr>
          <a:xfrm>
            <a:off x="762000" y="1752600"/>
            <a:ext cx="7696200" cy="4191000"/>
          </a:xfrm>
        </p:spPr>
        <p:txBody>
          <a:bodyPr/>
          <a:lstStyle/>
          <a:p>
            <a:pPr marL="0" indent="0">
              <a:buNone/>
            </a:pPr>
            <a:r>
              <a:rPr lang="en-US" sz="2800" dirty="0" err="1"/>
              <a:t>mysg</a:t>
            </a:r>
            <a:r>
              <a:rPr lang="en-US" sz="2800" dirty="0"/>
              <a:t> = ec2.create_security_group(</a:t>
            </a:r>
          </a:p>
          <a:p>
            <a:pPr marL="0" indent="0">
              <a:buNone/>
            </a:pPr>
            <a:r>
              <a:rPr lang="en-US" sz="2800" dirty="0"/>
              <a:t>	</a:t>
            </a:r>
            <a:r>
              <a:rPr lang="en-US" sz="2800" dirty="0" err="1"/>
              <a:t>GroupName</a:t>
            </a:r>
            <a:r>
              <a:rPr lang="en-US" sz="2800" dirty="0"/>
              <a:t>='http',</a:t>
            </a:r>
          </a:p>
          <a:p>
            <a:pPr marL="0" indent="0">
              <a:buNone/>
            </a:pPr>
            <a:r>
              <a:rPr lang="en-US" sz="2800" dirty="0"/>
              <a:t>	Description='security group allowing http')</a:t>
            </a:r>
          </a:p>
          <a:p>
            <a:pPr marL="0" indent="0">
              <a:buNone/>
            </a:pPr>
            <a:endParaRPr lang="en-US" sz="2800" dirty="0"/>
          </a:p>
          <a:p>
            <a:pPr marL="0" indent="0">
              <a:buNone/>
            </a:pPr>
            <a:r>
              <a:rPr lang="en-US" sz="2800" dirty="0" err="1"/>
              <a:t>mysg.authorize_ingress</a:t>
            </a:r>
            <a:r>
              <a:rPr lang="en-US" sz="2800" dirty="0"/>
              <a:t>(</a:t>
            </a:r>
          </a:p>
          <a:p>
            <a:pPr marL="0" indent="0">
              <a:buNone/>
            </a:pPr>
            <a:r>
              <a:rPr lang="en-US" sz="2800" dirty="0"/>
              <a:t>	</a:t>
            </a:r>
            <a:r>
              <a:rPr lang="en-US" sz="2800" dirty="0" err="1"/>
              <a:t>IpProtocol</a:t>
            </a:r>
            <a:r>
              <a:rPr lang="en-US" sz="2800" dirty="0"/>
              <a:t>='</a:t>
            </a:r>
            <a:r>
              <a:rPr lang="en-US" sz="2800" dirty="0" err="1"/>
              <a:t>tcp</a:t>
            </a:r>
            <a:r>
              <a:rPr lang="en-US" sz="2800" dirty="0"/>
              <a:t>',</a:t>
            </a:r>
          </a:p>
          <a:p>
            <a:pPr marL="0" indent="0">
              <a:buNone/>
            </a:pPr>
            <a:r>
              <a:rPr lang="en-US" sz="2800" dirty="0"/>
              <a:t>	</a:t>
            </a:r>
            <a:r>
              <a:rPr lang="en-US" sz="2800" dirty="0" err="1"/>
              <a:t>CidrIp</a:t>
            </a:r>
            <a:r>
              <a:rPr lang="en-US" sz="2800" dirty="0"/>
              <a:t>='0.0.0.0/0',</a:t>
            </a:r>
          </a:p>
          <a:p>
            <a:pPr marL="0" indent="0">
              <a:buNone/>
            </a:pPr>
            <a:r>
              <a:rPr lang="en-US" sz="2800" dirty="0"/>
              <a:t>	</a:t>
            </a:r>
            <a:r>
              <a:rPr lang="en-US" sz="2800" dirty="0" err="1"/>
              <a:t>FromPort</a:t>
            </a:r>
            <a:r>
              <a:rPr lang="en-US" sz="2800" dirty="0"/>
              <a:t>=80,</a:t>
            </a:r>
          </a:p>
          <a:p>
            <a:pPr marL="0" indent="0">
              <a:buNone/>
            </a:pPr>
            <a:r>
              <a:rPr lang="en-US" sz="2800" dirty="0"/>
              <a:t>	</a:t>
            </a:r>
            <a:r>
              <a:rPr lang="en-US" sz="2800" dirty="0" err="1"/>
              <a:t>ToPort</a:t>
            </a:r>
            <a:r>
              <a:rPr lang="en-US" sz="2800" dirty="0"/>
              <a:t>=80)</a:t>
            </a:r>
          </a:p>
        </p:txBody>
      </p:sp>
    </p:spTree>
    <p:extLst>
      <p:ext uri="{BB962C8B-B14F-4D97-AF65-F5344CB8AC3E}">
        <p14:creationId xmlns:p14="http://schemas.microsoft.com/office/powerpoint/2010/main" val="20236565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Launching New EC2 Instance</a:t>
            </a:r>
          </a:p>
        </p:txBody>
      </p:sp>
      <p:sp>
        <p:nvSpPr>
          <p:cNvPr id="3" name="Content Placeholder 2"/>
          <p:cNvSpPr>
            <a:spLocks noGrp="1"/>
          </p:cNvSpPr>
          <p:nvPr>
            <p:ph idx="1"/>
          </p:nvPr>
        </p:nvSpPr>
        <p:spPr>
          <a:xfrm>
            <a:off x="762000" y="1676400"/>
            <a:ext cx="7696200" cy="4267200"/>
          </a:xfrm>
        </p:spPr>
        <p:txBody>
          <a:bodyPr/>
          <a:lstStyle/>
          <a:p>
            <a:pPr marL="0" indent="0">
              <a:buNone/>
            </a:pPr>
            <a:r>
              <a:rPr lang="en-US" sz="1800" dirty="0"/>
              <a:t>instances = ec2.create_instances(</a:t>
            </a:r>
          </a:p>
          <a:p>
            <a:pPr marL="0" indent="0">
              <a:buNone/>
            </a:pPr>
            <a:r>
              <a:rPr lang="en-US" sz="1800" dirty="0"/>
              <a:t>     </a:t>
            </a:r>
            <a:r>
              <a:rPr lang="en-US" sz="1800" dirty="0" err="1"/>
              <a:t>ImageId</a:t>
            </a:r>
            <a:r>
              <a:rPr lang="en-US" sz="1800" dirty="0"/>
              <a:t>='ami-0c7217cdde317cfec',</a:t>
            </a:r>
          </a:p>
          <a:p>
            <a:pPr marL="0" indent="0">
              <a:buNone/>
            </a:pPr>
            <a:r>
              <a:rPr lang="en-US" sz="1800" dirty="0"/>
              <a:t>     </a:t>
            </a:r>
            <a:r>
              <a:rPr lang="en-US" sz="1800" dirty="0" err="1"/>
              <a:t>MinCount</a:t>
            </a:r>
            <a:r>
              <a:rPr lang="en-US" sz="1800" dirty="0"/>
              <a:t>=1,</a:t>
            </a:r>
          </a:p>
          <a:p>
            <a:pPr marL="0" indent="0">
              <a:buNone/>
            </a:pPr>
            <a:r>
              <a:rPr lang="en-US" sz="1800" dirty="0"/>
              <a:t>     </a:t>
            </a:r>
            <a:r>
              <a:rPr lang="en-US" sz="1800" dirty="0" err="1"/>
              <a:t>MaxCount</a:t>
            </a:r>
            <a:r>
              <a:rPr lang="en-US" sz="1800" dirty="0"/>
              <a:t>=1,</a:t>
            </a:r>
          </a:p>
          <a:p>
            <a:pPr marL="0" indent="0">
              <a:buNone/>
            </a:pPr>
            <a:r>
              <a:rPr lang="en-US" sz="1800" dirty="0"/>
              <a:t>     </a:t>
            </a:r>
            <a:r>
              <a:rPr lang="en-US" sz="1800" dirty="0" err="1"/>
              <a:t>InstanceType</a:t>
            </a:r>
            <a:r>
              <a:rPr lang="en-US" sz="1800" dirty="0"/>
              <a:t>='t2.micro',</a:t>
            </a:r>
          </a:p>
          <a:p>
            <a:pPr marL="0" indent="0">
              <a:buNone/>
            </a:pPr>
            <a:r>
              <a:rPr lang="en-US" sz="1800" dirty="0"/>
              <a:t>     </a:t>
            </a:r>
            <a:r>
              <a:rPr lang="en-US" sz="1800" dirty="0" err="1"/>
              <a:t>KeyName</a:t>
            </a:r>
            <a:r>
              <a:rPr lang="en-US" sz="1800" dirty="0"/>
              <a:t>='ec2keypair',</a:t>
            </a:r>
          </a:p>
          <a:p>
            <a:pPr marL="0" indent="0">
              <a:buNone/>
            </a:pPr>
            <a:r>
              <a:rPr lang="en-US" sz="1800" dirty="0"/>
              <a:t>     </a:t>
            </a:r>
            <a:r>
              <a:rPr lang="en-US" sz="1800" dirty="0" err="1"/>
              <a:t>SecurityGroups</a:t>
            </a:r>
            <a:r>
              <a:rPr lang="en-US" sz="1800" dirty="0"/>
              <a:t>=['http'],</a:t>
            </a:r>
          </a:p>
          <a:p>
            <a:pPr marL="0" indent="0">
              <a:buNone/>
            </a:pPr>
            <a:r>
              <a:rPr lang="en-US" sz="1800" dirty="0"/>
              <a:t>     </a:t>
            </a:r>
            <a:r>
              <a:rPr lang="en-US" sz="1800" dirty="0" err="1"/>
              <a:t>BlockDeviceMappings</a:t>
            </a:r>
            <a:r>
              <a:rPr lang="en-US" sz="1800" dirty="0"/>
              <a:t>=[{"</a:t>
            </a:r>
            <a:r>
              <a:rPr lang="en-US" sz="1800" dirty="0" err="1"/>
              <a:t>DeviceName</a:t>
            </a:r>
            <a:r>
              <a:rPr lang="en-US" sz="1800" dirty="0"/>
              <a:t>": "/dev/sda1",</a:t>
            </a:r>
          </a:p>
          <a:p>
            <a:pPr marL="0" indent="0">
              <a:buNone/>
            </a:pPr>
            <a:r>
              <a:rPr lang="en-US" sz="1800" dirty="0"/>
              <a:t>                           "</a:t>
            </a:r>
            <a:r>
              <a:rPr lang="en-US" sz="1800" dirty="0" err="1"/>
              <a:t>Ebs</a:t>
            </a:r>
            <a:r>
              <a:rPr lang="en-US" sz="1800" dirty="0"/>
              <a:t>" : { "</a:t>
            </a:r>
            <a:r>
              <a:rPr lang="en-US" sz="1800" dirty="0" err="1"/>
              <a:t>VolumeSize</a:t>
            </a:r>
            <a:r>
              <a:rPr lang="en-US" sz="1800" dirty="0"/>
              <a:t>" : 10 }}]</a:t>
            </a:r>
          </a:p>
          <a:p>
            <a:pPr marL="0" indent="0">
              <a:buNone/>
            </a:pPr>
            <a:r>
              <a:rPr lang="en-US" sz="1800" dirty="0"/>
              <a:t>)</a:t>
            </a:r>
          </a:p>
          <a:p>
            <a:pPr marL="0" indent="0">
              <a:buNone/>
            </a:pPr>
            <a:r>
              <a:rPr lang="en-US" sz="1800" dirty="0" err="1"/>
              <a:t>i</a:t>
            </a:r>
            <a:r>
              <a:rPr lang="en-US" sz="1800" dirty="0"/>
              <a:t> = instances[0]</a:t>
            </a:r>
          </a:p>
          <a:p>
            <a:pPr marL="0" indent="0">
              <a:buNone/>
            </a:pPr>
            <a:r>
              <a:rPr lang="en-US" sz="1800" dirty="0"/>
              <a:t>print('instance', i.id, 'is created')</a:t>
            </a:r>
          </a:p>
          <a:p>
            <a:pPr marL="0" indent="0">
              <a:buNone/>
            </a:pPr>
            <a:r>
              <a:rPr lang="en-US" sz="1800" dirty="0" err="1"/>
              <a:t>i.wait_until_running</a:t>
            </a:r>
            <a:r>
              <a:rPr lang="en-US" sz="1800" dirty="0"/>
              <a:t>()</a:t>
            </a:r>
          </a:p>
          <a:p>
            <a:pPr marL="0" indent="0">
              <a:buNone/>
            </a:pPr>
            <a:r>
              <a:rPr lang="en-US" sz="1800" dirty="0"/>
              <a:t>print('instance', i.id, 'is running')</a:t>
            </a:r>
          </a:p>
          <a:p>
            <a:pPr marL="0" indent="0">
              <a:buNone/>
            </a:pPr>
            <a:endParaRPr lang="en-US" sz="1800" dirty="0"/>
          </a:p>
        </p:txBody>
      </p:sp>
    </p:spTree>
    <p:extLst>
      <p:ext uri="{BB962C8B-B14F-4D97-AF65-F5344CB8AC3E}">
        <p14:creationId xmlns:p14="http://schemas.microsoft.com/office/powerpoint/2010/main" val="3182873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EBS Volume</a:t>
            </a:r>
          </a:p>
        </p:txBody>
      </p:sp>
      <p:sp>
        <p:nvSpPr>
          <p:cNvPr id="3" name="Content Placeholder 2"/>
          <p:cNvSpPr>
            <a:spLocks noGrp="1"/>
          </p:cNvSpPr>
          <p:nvPr>
            <p:ph idx="1"/>
          </p:nvPr>
        </p:nvSpPr>
        <p:spPr>
          <a:xfrm>
            <a:off x="762000" y="1828800"/>
            <a:ext cx="7696200" cy="4114800"/>
          </a:xfrm>
        </p:spPr>
        <p:txBody>
          <a:bodyPr/>
          <a:lstStyle/>
          <a:p>
            <a:pPr marL="0" indent="0">
              <a:buNone/>
            </a:pPr>
            <a:r>
              <a:rPr lang="en-US" sz="2200" dirty="0"/>
              <a:t>import time</a:t>
            </a:r>
          </a:p>
          <a:p>
            <a:pPr marL="0" indent="0">
              <a:buNone/>
            </a:pPr>
            <a:endParaRPr lang="en-US" sz="2200" dirty="0"/>
          </a:p>
          <a:p>
            <a:pPr marL="0" indent="0">
              <a:buNone/>
            </a:pPr>
            <a:r>
              <a:rPr lang="en-US" sz="2200" dirty="0"/>
              <a:t>subnet = ec2.Subnet(</a:t>
            </a:r>
            <a:r>
              <a:rPr lang="en-US" sz="2200" dirty="0" err="1"/>
              <a:t>i.subnet_id</a:t>
            </a:r>
            <a:r>
              <a:rPr lang="en-US" sz="2200" dirty="0"/>
              <a:t>)</a:t>
            </a:r>
          </a:p>
          <a:p>
            <a:pPr marL="0" indent="0">
              <a:buNone/>
            </a:pPr>
            <a:r>
              <a:rPr lang="en-US" sz="2200" dirty="0"/>
              <a:t>zone = </a:t>
            </a:r>
            <a:r>
              <a:rPr lang="en-US" sz="2200" dirty="0" err="1"/>
              <a:t>subnet.availability_zone</a:t>
            </a:r>
            <a:endParaRPr lang="en-US" sz="2200" dirty="0"/>
          </a:p>
          <a:p>
            <a:pPr marL="0" indent="0">
              <a:buNone/>
            </a:pPr>
            <a:endParaRPr lang="en-US" sz="2200" dirty="0"/>
          </a:p>
          <a:p>
            <a:pPr marL="0" indent="0">
              <a:buNone/>
            </a:pPr>
            <a:r>
              <a:rPr lang="en-US" sz="2200" dirty="0"/>
              <a:t>volume = ec2.create_volume(</a:t>
            </a:r>
          </a:p>
          <a:p>
            <a:pPr marL="0" indent="0">
              <a:buNone/>
            </a:pPr>
            <a:r>
              <a:rPr lang="en-US" sz="2200" dirty="0"/>
              <a:t>	</a:t>
            </a:r>
            <a:r>
              <a:rPr lang="en-US" sz="2200" dirty="0" err="1"/>
              <a:t>AvailabilityZone</a:t>
            </a:r>
            <a:r>
              <a:rPr lang="en-US" sz="2200" dirty="0"/>
              <a:t> = zone, </a:t>
            </a:r>
          </a:p>
          <a:p>
            <a:pPr marL="0" indent="0">
              <a:buNone/>
            </a:pPr>
            <a:r>
              <a:rPr lang="en-US" sz="2200" dirty="0"/>
              <a:t>	Size=5)</a:t>
            </a:r>
          </a:p>
          <a:p>
            <a:pPr marL="0" indent="0">
              <a:buNone/>
            </a:pPr>
            <a:r>
              <a:rPr lang="en-US" sz="2200" dirty="0"/>
              <a:t>while ec2.Volume(volume.id).state != 'available':</a:t>
            </a:r>
          </a:p>
          <a:p>
            <a:pPr marL="0" indent="0">
              <a:buNone/>
            </a:pPr>
            <a:r>
              <a:rPr lang="en-US" sz="2200" dirty="0"/>
              <a:t>    </a:t>
            </a:r>
            <a:r>
              <a:rPr lang="en-US" sz="2200" dirty="0" err="1"/>
              <a:t>time.sleep</a:t>
            </a:r>
            <a:r>
              <a:rPr lang="en-US" sz="2200" dirty="0"/>
              <a:t>(5)</a:t>
            </a:r>
          </a:p>
          <a:p>
            <a:pPr marL="0" indent="0">
              <a:buNone/>
            </a:pPr>
            <a:endParaRPr lang="en-US" sz="2200" dirty="0"/>
          </a:p>
        </p:txBody>
      </p:sp>
    </p:spTree>
    <p:extLst>
      <p:ext uri="{BB962C8B-B14F-4D97-AF65-F5344CB8AC3E}">
        <p14:creationId xmlns:p14="http://schemas.microsoft.com/office/powerpoint/2010/main" val="3371543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Attach EBS Volume to Instance</a:t>
            </a:r>
          </a:p>
        </p:txBody>
      </p:sp>
      <p:sp>
        <p:nvSpPr>
          <p:cNvPr id="3" name="Content Placeholder 2"/>
          <p:cNvSpPr>
            <a:spLocks noGrp="1"/>
          </p:cNvSpPr>
          <p:nvPr>
            <p:ph idx="1"/>
          </p:nvPr>
        </p:nvSpPr>
        <p:spPr>
          <a:xfrm>
            <a:off x="762000" y="1752600"/>
            <a:ext cx="7696200" cy="4191000"/>
          </a:xfrm>
        </p:spPr>
        <p:txBody>
          <a:bodyPr/>
          <a:lstStyle/>
          <a:p>
            <a:pPr marL="0" indent="0">
              <a:buNone/>
            </a:pPr>
            <a:r>
              <a:rPr lang="en-US" sz="2200" dirty="0" err="1"/>
              <a:t>volume_id</a:t>
            </a:r>
            <a:r>
              <a:rPr lang="en-US" sz="2200" dirty="0"/>
              <a:t> = volume.id</a:t>
            </a:r>
          </a:p>
          <a:p>
            <a:pPr marL="0" indent="0">
              <a:buNone/>
            </a:pPr>
            <a:r>
              <a:rPr lang="en-US" sz="2200" dirty="0" err="1"/>
              <a:t>instance_id</a:t>
            </a:r>
            <a:r>
              <a:rPr lang="en-US" sz="2200" dirty="0"/>
              <a:t> = i.id</a:t>
            </a:r>
          </a:p>
          <a:p>
            <a:pPr marL="0" indent="0">
              <a:buNone/>
            </a:pPr>
            <a:r>
              <a:rPr lang="en-US" sz="2200" dirty="0"/>
              <a:t>dev = "/dev/</a:t>
            </a:r>
            <a:r>
              <a:rPr lang="en-US" sz="2200" dirty="0" err="1"/>
              <a:t>sdh</a:t>
            </a:r>
            <a:r>
              <a:rPr lang="en-US" sz="2200" dirty="0"/>
              <a:t>"</a:t>
            </a:r>
          </a:p>
          <a:p>
            <a:pPr marL="0" indent="0">
              <a:buNone/>
            </a:pPr>
            <a:endParaRPr lang="en-US" sz="2200" dirty="0"/>
          </a:p>
          <a:p>
            <a:pPr marL="0" indent="0">
              <a:buNone/>
            </a:pPr>
            <a:r>
              <a:rPr lang="en-US" sz="2200" dirty="0"/>
              <a:t>ec2.Volume(</a:t>
            </a:r>
            <a:r>
              <a:rPr lang="en-US" sz="2200" dirty="0" err="1"/>
              <a:t>volume_id</a:t>
            </a:r>
            <a:r>
              <a:rPr lang="en-US" sz="2200" dirty="0"/>
              <a:t>).</a:t>
            </a:r>
            <a:r>
              <a:rPr lang="en-US" sz="2200" dirty="0" err="1"/>
              <a:t>attach_to_instance</a:t>
            </a:r>
            <a:r>
              <a:rPr lang="en-US" sz="2200" dirty="0"/>
              <a:t>(</a:t>
            </a:r>
          </a:p>
          <a:p>
            <a:pPr marL="0" indent="0">
              <a:buNone/>
            </a:pPr>
            <a:r>
              <a:rPr lang="en-US" sz="2200" dirty="0"/>
              <a:t>	</a:t>
            </a:r>
            <a:r>
              <a:rPr lang="en-US" sz="2200" dirty="0" err="1"/>
              <a:t>InstanceId</a:t>
            </a:r>
            <a:r>
              <a:rPr lang="en-US" sz="2200" dirty="0"/>
              <a:t> = </a:t>
            </a:r>
            <a:r>
              <a:rPr lang="en-US" sz="2200" dirty="0" err="1"/>
              <a:t>instance_id</a:t>
            </a:r>
            <a:r>
              <a:rPr lang="en-US" sz="2200" dirty="0"/>
              <a:t>, </a:t>
            </a:r>
          </a:p>
          <a:p>
            <a:pPr marL="0" indent="0">
              <a:buNone/>
            </a:pPr>
            <a:r>
              <a:rPr lang="en-US" sz="2200" dirty="0"/>
              <a:t>	Device = dev)</a:t>
            </a:r>
          </a:p>
          <a:p>
            <a:pPr marL="0" indent="0">
              <a:buNone/>
            </a:pPr>
            <a:r>
              <a:rPr lang="en-US" sz="2200" dirty="0"/>
              <a:t>or</a:t>
            </a:r>
          </a:p>
          <a:p>
            <a:pPr marL="0" indent="0">
              <a:buNone/>
            </a:pPr>
            <a:r>
              <a:rPr lang="en-US" sz="2200" dirty="0"/>
              <a:t>ec2.Instance(</a:t>
            </a:r>
            <a:r>
              <a:rPr lang="en-US" sz="2200" dirty="0" err="1"/>
              <a:t>instance_id</a:t>
            </a:r>
            <a:r>
              <a:rPr lang="en-US" sz="2200" dirty="0"/>
              <a:t>).</a:t>
            </a:r>
            <a:r>
              <a:rPr lang="en-US" sz="2200" dirty="0" err="1"/>
              <a:t>attach_volume</a:t>
            </a:r>
            <a:r>
              <a:rPr lang="en-US" sz="2200" dirty="0"/>
              <a:t>(</a:t>
            </a:r>
          </a:p>
          <a:p>
            <a:pPr marL="0" indent="0">
              <a:buNone/>
            </a:pPr>
            <a:r>
              <a:rPr lang="en-US" sz="2200" dirty="0"/>
              <a:t>	</a:t>
            </a:r>
            <a:r>
              <a:rPr lang="en-US" sz="2200" dirty="0" err="1"/>
              <a:t>VolumeId</a:t>
            </a:r>
            <a:r>
              <a:rPr lang="en-US" sz="2200" dirty="0"/>
              <a:t> = </a:t>
            </a:r>
            <a:r>
              <a:rPr lang="en-US" sz="2200" dirty="0" err="1"/>
              <a:t>volume_id</a:t>
            </a:r>
            <a:r>
              <a:rPr lang="en-US" sz="2200" dirty="0"/>
              <a:t>, </a:t>
            </a:r>
          </a:p>
          <a:p>
            <a:pPr marL="0" indent="0">
              <a:buNone/>
            </a:pPr>
            <a:r>
              <a:rPr lang="en-US" sz="2200" dirty="0"/>
              <a:t>	Device = dev)</a:t>
            </a:r>
          </a:p>
          <a:p>
            <a:pPr marL="0" indent="0">
              <a:buNone/>
            </a:pPr>
            <a:endParaRPr lang="en-US" sz="2200" dirty="0"/>
          </a:p>
        </p:txBody>
      </p:sp>
    </p:spTree>
    <p:extLst>
      <p:ext uri="{BB962C8B-B14F-4D97-AF65-F5344CB8AC3E}">
        <p14:creationId xmlns:p14="http://schemas.microsoft.com/office/powerpoint/2010/main" val="2374553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All EBS Volumes</a:t>
            </a:r>
          </a:p>
        </p:txBody>
      </p:sp>
      <p:sp>
        <p:nvSpPr>
          <p:cNvPr id="3" name="Content Placeholder 2"/>
          <p:cNvSpPr>
            <a:spLocks noGrp="1"/>
          </p:cNvSpPr>
          <p:nvPr>
            <p:ph idx="1"/>
          </p:nvPr>
        </p:nvSpPr>
        <p:spPr/>
        <p:txBody>
          <a:bodyPr/>
          <a:lstStyle/>
          <a:p>
            <a:pPr marL="0" indent="0">
              <a:buNone/>
            </a:pPr>
            <a:r>
              <a:rPr lang="en-US" dirty="0"/>
              <a:t>volumes = ec2.volumes.all()</a:t>
            </a:r>
          </a:p>
          <a:p>
            <a:pPr marL="0" indent="0">
              <a:buNone/>
            </a:pPr>
            <a:r>
              <a:rPr lang="en-US" dirty="0"/>
              <a:t>for v in volumes:</a:t>
            </a:r>
          </a:p>
          <a:p>
            <a:pPr marL="0" indent="0">
              <a:buNone/>
            </a:pPr>
            <a:r>
              <a:rPr lang="en-US" dirty="0"/>
              <a:t>	print(</a:t>
            </a:r>
            <a:r>
              <a:rPr lang="en-US" dirty="0" err="1"/>
              <a:t>v.volume_id</a:t>
            </a:r>
            <a:r>
              <a:rPr lang="en-US" dirty="0"/>
              <a:t> + ' ' + </a:t>
            </a:r>
          </a:p>
          <a:p>
            <a:pPr marL="0" indent="0">
              <a:buNone/>
            </a:pPr>
            <a:r>
              <a:rPr lang="en-US" dirty="0"/>
              <a:t>		</a:t>
            </a:r>
            <a:r>
              <a:rPr lang="en-US" dirty="0" err="1"/>
              <a:t>str</a:t>
            </a:r>
            <a:r>
              <a:rPr lang="en-US" dirty="0"/>
              <a:t>(</a:t>
            </a:r>
            <a:r>
              <a:rPr lang="en-US" dirty="0" err="1"/>
              <a:t>v.size</a:t>
            </a:r>
            <a:r>
              <a:rPr lang="en-US" dirty="0"/>
              <a:t>) + ' ' + </a:t>
            </a:r>
          </a:p>
          <a:p>
            <a:pPr marL="0" indent="0">
              <a:buNone/>
            </a:pPr>
            <a:r>
              <a:rPr lang="en-US" dirty="0"/>
              <a:t>		</a:t>
            </a:r>
            <a:r>
              <a:rPr lang="en-US" dirty="0" err="1"/>
              <a:t>v.availability_zone</a:t>
            </a:r>
            <a:r>
              <a:rPr lang="en-US" dirty="0"/>
              <a:t>)</a:t>
            </a:r>
          </a:p>
        </p:txBody>
      </p:sp>
    </p:spTree>
    <p:extLst>
      <p:ext uri="{BB962C8B-B14F-4D97-AF65-F5344CB8AC3E}">
        <p14:creationId xmlns:p14="http://schemas.microsoft.com/office/powerpoint/2010/main" val="292547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Detach and Delete EBS Volume</a:t>
            </a:r>
          </a:p>
        </p:txBody>
      </p:sp>
      <p:sp>
        <p:nvSpPr>
          <p:cNvPr id="3" name="Content Placeholder 2"/>
          <p:cNvSpPr>
            <a:spLocks noGrp="1"/>
          </p:cNvSpPr>
          <p:nvPr>
            <p:ph idx="1"/>
          </p:nvPr>
        </p:nvSpPr>
        <p:spPr/>
        <p:txBody>
          <a:bodyPr/>
          <a:lstStyle/>
          <a:p>
            <a:pPr marL="0" indent="0">
              <a:buNone/>
            </a:pPr>
            <a:r>
              <a:rPr lang="en-US" sz="2400" dirty="0"/>
              <a:t>volume = ec2.Volume(</a:t>
            </a:r>
            <a:r>
              <a:rPr lang="en-US" sz="2400" dirty="0" err="1"/>
              <a:t>volume_id</a:t>
            </a:r>
            <a:r>
              <a:rPr lang="en-US" sz="2400" dirty="0"/>
              <a:t>)</a:t>
            </a:r>
          </a:p>
          <a:p>
            <a:pPr marL="0" indent="0">
              <a:buNone/>
            </a:pPr>
            <a:r>
              <a:rPr lang="en-US" sz="2400" dirty="0" err="1"/>
              <a:t>volume.detach_from_instance</a:t>
            </a:r>
            <a:r>
              <a:rPr lang="en-US" sz="2400" dirty="0"/>
              <a:t>(</a:t>
            </a:r>
            <a:r>
              <a:rPr lang="en-US" sz="2400" dirty="0" err="1"/>
              <a:t>InstanceId</a:t>
            </a:r>
            <a:r>
              <a:rPr lang="en-US" sz="2400" dirty="0"/>
              <a:t>=</a:t>
            </a:r>
            <a:r>
              <a:rPr lang="en-US" sz="2400" dirty="0" err="1"/>
              <a:t>instance_id</a:t>
            </a:r>
            <a:r>
              <a:rPr lang="en-US" sz="2400" dirty="0"/>
              <a:t>)</a:t>
            </a:r>
          </a:p>
          <a:p>
            <a:pPr marL="0" indent="0">
              <a:buNone/>
            </a:pPr>
            <a:r>
              <a:rPr lang="en-US" sz="2400" dirty="0"/>
              <a:t># or</a:t>
            </a:r>
          </a:p>
          <a:p>
            <a:pPr marL="0" indent="0">
              <a:buNone/>
            </a:pPr>
            <a:r>
              <a:rPr lang="en-US" sz="2400" dirty="0"/>
              <a:t>Instance = ec2.Instance(</a:t>
            </a:r>
            <a:r>
              <a:rPr lang="en-US" sz="2400" dirty="0" err="1"/>
              <a:t>instance_id</a:t>
            </a:r>
            <a:r>
              <a:rPr lang="en-US" sz="2400" dirty="0"/>
              <a:t>)</a:t>
            </a:r>
          </a:p>
          <a:p>
            <a:pPr marL="0" indent="0">
              <a:buNone/>
            </a:pPr>
            <a:r>
              <a:rPr lang="en-US" sz="2400" dirty="0" err="1"/>
              <a:t>instance.detach_volume</a:t>
            </a:r>
            <a:r>
              <a:rPr lang="en-US" sz="2400" dirty="0"/>
              <a:t>(</a:t>
            </a:r>
            <a:r>
              <a:rPr lang="en-US" sz="2400" dirty="0" err="1"/>
              <a:t>VolumeId</a:t>
            </a:r>
            <a:r>
              <a:rPr lang="en-US" sz="2400" dirty="0"/>
              <a:t>=</a:t>
            </a:r>
            <a:r>
              <a:rPr lang="en-US" sz="2400" dirty="0" err="1"/>
              <a:t>volume_id</a:t>
            </a:r>
            <a:r>
              <a:rPr lang="en-US" sz="2400" dirty="0"/>
              <a:t>)</a:t>
            </a:r>
          </a:p>
          <a:p>
            <a:pPr marL="0" indent="0">
              <a:buNone/>
            </a:pPr>
            <a:endParaRPr lang="en-US" sz="2400" dirty="0"/>
          </a:p>
          <a:p>
            <a:pPr marL="0" indent="0">
              <a:buNone/>
            </a:pPr>
            <a:r>
              <a:rPr lang="en-US" sz="2400" dirty="0"/>
              <a:t># If no longer need this EBS volume</a:t>
            </a:r>
          </a:p>
          <a:p>
            <a:pPr marL="0" indent="0">
              <a:buNone/>
            </a:pPr>
            <a:r>
              <a:rPr lang="en-US" sz="2400" dirty="0"/>
              <a:t>volume = ec2.Volume(</a:t>
            </a:r>
            <a:r>
              <a:rPr lang="en-US" sz="2400" dirty="0" err="1"/>
              <a:t>volume_id</a:t>
            </a:r>
            <a:r>
              <a:rPr lang="en-US" sz="2400" dirty="0"/>
              <a:t>)</a:t>
            </a:r>
          </a:p>
          <a:p>
            <a:pPr marL="0" indent="0">
              <a:buNone/>
            </a:pPr>
            <a:r>
              <a:rPr lang="en-US" sz="2400" dirty="0" err="1"/>
              <a:t>volume.delete</a:t>
            </a:r>
            <a:r>
              <a:rPr lang="en-US" sz="2400" dirty="0"/>
              <a:t>()</a:t>
            </a:r>
          </a:p>
        </p:txBody>
      </p:sp>
    </p:spTree>
    <p:extLst>
      <p:ext uri="{BB962C8B-B14F-4D97-AF65-F5344CB8AC3E}">
        <p14:creationId xmlns:p14="http://schemas.microsoft.com/office/powerpoint/2010/main" val="2483915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All EIP Addresses</a:t>
            </a:r>
          </a:p>
        </p:txBody>
      </p:sp>
      <p:sp>
        <p:nvSpPr>
          <p:cNvPr id="3" name="Content Placeholder 2"/>
          <p:cNvSpPr>
            <a:spLocks noGrp="1"/>
          </p:cNvSpPr>
          <p:nvPr>
            <p:ph idx="1"/>
          </p:nvPr>
        </p:nvSpPr>
        <p:spPr/>
        <p:txBody>
          <a:bodyPr/>
          <a:lstStyle/>
          <a:p>
            <a:pPr marL="0" indent="0">
              <a:buNone/>
            </a:pPr>
            <a:r>
              <a:rPr lang="en-US" dirty="0"/>
              <a:t>addresses = ec2.vpc_addresses.all()</a:t>
            </a:r>
          </a:p>
          <a:p>
            <a:pPr marL="0" indent="0">
              <a:buNone/>
            </a:pPr>
            <a:r>
              <a:rPr lang="en-US" dirty="0"/>
              <a:t>for a in addresses:</a:t>
            </a:r>
          </a:p>
          <a:p>
            <a:pPr marL="0" indent="0">
              <a:buNone/>
            </a:pPr>
            <a:r>
              <a:rPr lang="en-US" dirty="0"/>
              <a:t>    print(</a:t>
            </a:r>
            <a:r>
              <a:rPr lang="en-US" dirty="0" err="1"/>
              <a:t>a.allocation_id</a:t>
            </a:r>
            <a:r>
              <a:rPr lang="en-US" dirty="0"/>
              <a:t> + ' ' + </a:t>
            </a:r>
            <a:r>
              <a:rPr lang="en-US" dirty="0" err="1"/>
              <a:t>a.public_ip</a:t>
            </a:r>
            <a:r>
              <a:rPr lang="en-US" dirty="0"/>
              <a:t>)</a:t>
            </a:r>
          </a:p>
        </p:txBody>
      </p:sp>
    </p:spTree>
    <p:extLst>
      <p:ext uri="{BB962C8B-B14F-4D97-AF65-F5344CB8AC3E}">
        <p14:creationId xmlns:p14="http://schemas.microsoft.com/office/powerpoint/2010/main" val="3080475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Allocate and Associate EIP</a:t>
            </a:r>
          </a:p>
        </p:txBody>
      </p:sp>
      <p:sp>
        <p:nvSpPr>
          <p:cNvPr id="3" name="Content Placeholder 2"/>
          <p:cNvSpPr>
            <a:spLocks noGrp="1"/>
          </p:cNvSpPr>
          <p:nvPr>
            <p:ph idx="1"/>
          </p:nvPr>
        </p:nvSpPr>
        <p:spPr>
          <a:xfrm>
            <a:off x="762000" y="1828800"/>
            <a:ext cx="7696200" cy="4038600"/>
          </a:xfrm>
        </p:spPr>
        <p:txBody>
          <a:bodyPr/>
          <a:lstStyle/>
          <a:p>
            <a:pPr marL="0" indent="0">
              <a:buNone/>
            </a:pPr>
            <a:r>
              <a:rPr lang="en-US" sz="2400" dirty="0" err="1"/>
              <a:t>eip</a:t>
            </a:r>
            <a:r>
              <a:rPr lang="en-US" sz="2400" dirty="0"/>
              <a:t> = ec2.meta.client.allocate_address()</a:t>
            </a:r>
          </a:p>
          <a:p>
            <a:pPr marL="0" indent="0">
              <a:buNone/>
            </a:pPr>
            <a:r>
              <a:rPr lang="en-US" sz="2400" dirty="0" err="1"/>
              <a:t>allocation_id</a:t>
            </a:r>
            <a:r>
              <a:rPr lang="en-US" sz="2400" dirty="0"/>
              <a:t> = </a:t>
            </a:r>
            <a:r>
              <a:rPr lang="en-US" sz="2400" dirty="0" err="1"/>
              <a:t>eip</a:t>
            </a:r>
            <a:r>
              <a:rPr lang="en-US" sz="2400" dirty="0"/>
              <a:t>["</a:t>
            </a:r>
            <a:r>
              <a:rPr lang="en-US" sz="2400" dirty="0" err="1"/>
              <a:t>AllocationId</a:t>
            </a:r>
            <a:r>
              <a:rPr lang="en-US" sz="2400" dirty="0"/>
              <a:t>"]</a:t>
            </a:r>
          </a:p>
          <a:p>
            <a:pPr marL="0" indent="0">
              <a:buNone/>
            </a:pPr>
            <a:r>
              <a:rPr lang="en-US" sz="2400" dirty="0" err="1"/>
              <a:t>vpc_address</a:t>
            </a:r>
            <a:r>
              <a:rPr lang="en-US" sz="2400" dirty="0"/>
              <a:t> = ec2.VpcAddress(</a:t>
            </a:r>
            <a:r>
              <a:rPr lang="en-US" sz="2400" dirty="0" err="1"/>
              <a:t>allocation_id</a:t>
            </a:r>
            <a:r>
              <a:rPr lang="en-US" sz="2400" dirty="0"/>
              <a:t>)</a:t>
            </a:r>
          </a:p>
          <a:p>
            <a:pPr marL="0" indent="0">
              <a:buNone/>
            </a:pPr>
            <a:r>
              <a:rPr lang="en-US" sz="2400" dirty="0" err="1"/>
              <a:t>vpc_address.associate</a:t>
            </a:r>
            <a:r>
              <a:rPr lang="en-US" sz="2400" dirty="0"/>
              <a:t>(</a:t>
            </a:r>
            <a:r>
              <a:rPr lang="en-US" sz="2400" dirty="0" err="1"/>
              <a:t>InstanceId</a:t>
            </a:r>
            <a:r>
              <a:rPr lang="en-US" sz="2400" dirty="0"/>
              <a:t> = </a:t>
            </a:r>
            <a:r>
              <a:rPr lang="en-US" sz="2400" dirty="0" err="1"/>
              <a:t>instance_id</a:t>
            </a:r>
            <a:r>
              <a:rPr lang="en-US" sz="2400" dirty="0"/>
              <a:t>)</a:t>
            </a:r>
          </a:p>
          <a:p>
            <a:pPr marL="0" indent="0">
              <a:buNone/>
            </a:pPr>
            <a:r>
              <a:rPr lang="en-US" sz="2400" dirty="0"/>
              <a:t>print(</a:t>
            </a:r>
            <a:r>
              <a:rPr lang="en-US" sz="2400" dirty="0" err="1"/>
              <a:t>vpc_address.public_ip</a:t>
            </a:r>
            <a:r>
              <a:rPr lang="en-US" sz="2400" dirty="0"/>
              <a:t>)</a:t>
            </a:r>
          </a:p>
          <a:p>
            <a:pPr marL="0" indent="0">
              <a:buNone/>
            </a:pPr>
            <a:endParaRPr lang="en-US" sz="2400" dirty="0"/>
          </a:p>
          <a:p>
            <a:pPr marL="0" indent="0">
              <a:buNone/>
            </a:pPr>
            <a:r>
              <a:rPr lang="en-US" sz="2400" dirty="0"/>
              <a:t># if no longer need this EIP, release it</a:t>
            </a:r>
          </a:p>
          <a:p>
            <a:pPr marL="0" indent="0">
              <a:buNone/>
            </a:pPr>
            <a:r>
              <a:rPr lang="en-US" sz="2400" dirty="0" err="1"/>
              <a:t>vpc_address.release</a:t>
            </a:r>
            <a:r>
              <a:rPr lang="en-US" sz="2400" dirty="0"/>
              <a:t>()</a:t>
            </a:r>
          </a:p>
        </p:txBody>
      </p:sp>
    </p:spTree>
    <p:extLst>
      <p:ext uri="{BB962C8B-B14F-4D97-AF65-F5344CB8AC3E}">
        <p14:creationId xmlns:p14="http://schemas.microsoft.com/office/powerpoint/2010/main" val="2810664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p:txBody>
          <a:bodyPr/>
          <a:lstStyle/>
          <a:p>
            <a:pPr algn="just"/>
            <a:r>
              <a:rPr lang="en-US" dirty="0"/>
              <a:t>Write a program to create a new key pair, and then use the new key pair to launch an EC2 instance, which has 10GB root </a:t>
            </a:r>
            <a:r>
              <a:rPr lang="en-US"/>
              <a:t>volume and extra </a:t>
            </a:r>
            <a:r>
              <a:rPr lang="en-US" dirty="0"/>
              <a:t>20GB EBS attached, and allows public http request.</a:t>
            </a:r>
          </a:p>
          <a:p>
            <a:pPr algn="just"/>
            <a:endParaRPr lang="en-US" dirty="0"/>
          </a:p>
        </p:txBody>
      </p:sp>
    </p:spTree>
    <p:extLst>
      <p:ext uri="{BB962C8B-B14F-4D97-AF65-F5344CB8AC3E}">
        <p14:creationId xmlns:p14="http://schemas.microsoft.com/office/powerpoint/2010/main" val="4192469110"/>
      </p:ext>
    </p:extLst>
  </p:cSld>
  <p:clrMapOvr>
    <a:masterClrMapping/>
  </p:clrMapOvr>
</p:sld>
</file>

<file path=ppt/theme/theme1.xml><?xml version="1.0" encoding="utf-8"?>
<a:theme xmlns:a="http://schemas.openxmlformats.org/drawingml/2006/main"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Studio</Template>
  <TotalTime>6110</TotalTime>
  <Words>2005</Words>
  <Application>Microsoft Office PowerPoint</Application>
  <PresentationFormat>On-screen Show (4:3)</PresentationFormat>
  <Paragraphs>217</Paragraphs>
  <Slides>45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Arial Black</vt:lpstr>
      <vt:lpstr>Arial Rounded MT Bold</vt:lpstr>
      <vt:lpstr>Times New Roman</vt:lpstr>
      <vt:lpstr>Wingdings</vt:lpstr>
      <vt:lpstr>Studio</vt:lpstr>
      <vt:lpstr>Lecture 4 AWS Elastic Compute Cloud</vt:lpstr>
      <vt:lpstr>Virtual Server</vt:lpstr>
      <vt:lpstr>AWS EC2</vt:lpstr>
      <vt:lpstr>AWS EC2</vt:lpstr>
      <vt:lpstr>Finding a Suitable AMI</vt:lpstr>
      <vt:lpstr>Instance Type</vt:lpstr>
      <vt:lpstr>Changing Instance Type</vt:lpstr>
      <vt:lpstr>Creating a Key Pair</vt:lpstr>
      <vt:lpstr>Creating a Key Pair</vt:lpstr>
      <vt:lpstr>Changing Keypair File Permission as Not Public</vt:lpstr>
      <vt:lpstr>Connecting With Instance</vt:lpstr>
      <vt:lpstr>Linux/Ubuntu instance</vt:lpstr>
      <vt:lpstr>Linux/Ubuntu instance</vt:lpstr>
      <vt:lpstr>Windows Instance</vt:lpstr>
      <vt:lpstr>Windows Instance</vt:lpstr>
      <vt:lpstr>Deleting Key Pair</vt:lpstr>
      <vt:lpstr>Deleting Key Pair</vt:lpstr>
      <vt:lpstr>Availability Zone</vt:lpstr>
      <vt:lpstr>EC2 Security Group</vt:lpstr>
      <vt:lpstr>Custom Security Group</vt:lpstr>
      <vt:lpstr>Custom Security Group</vt:lpstr>
      <vt:lpstr>Changing Instance Security Group</vt:lpstr>
      <vt:lpstr>EBS</vt:lpstr>
      <vt:lpstr>EBS Volume Types</vt:lpstr>
      <vt:lpstr>Modifying EBS Volume</vt:lpstr>
      <vt:lpstr>Creating EBS Volume</vt:lpstr>
      <vt:lpstr>Attaching EBS Volume</vt:lpstr>
      <vt:lpstr>Device Name</vt:lpstr>
      <vt:lpstr>IP Address</vt:lpstr>
      <vt:lpstr>PowerPoint Presentation</vt:lpstr>
      <vt:lpstr>Connecting to EC2 with Python</vt:lpstr>
      <vt:lpstr>Listing EC2 All Instances</vt:lpstr>
      <vt:lpstr>Instance State</vt:lpstr>
      <vt:lpstr>Finding EC2 Running Instances</vt:lpstr>
      <vt:lpstr>Start, Stop, Terminate Instance</vt:lpstr>
      <vt:lpstr>Creating New Key Pair</vt:lpstr>
      <vt:lpstr>Creating New Security Group</vt:lpstr>
      <vt:lpstr>Launching New EC2 Instance</vt:lpstr>
      <vt:lpstr>Creating EBS Volume</vt:lpstr>
      <vt:lpstr>Attach EBS Volume to Instance</vt:lpstr>
      <vt:lpstr>List All EBS Volumes</vt:lpstr>
      <vt:lpstr>Detach and Delete EBS Volume</vt:lpstr>
      <vt:lpstr>List All EIP Addresses</vt:lpstr>
      <vt:lpstr>Allocate and Associate EIP</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AWS Elastic Compute Cloud</dc:title>
  <dc:creator>Zong Chen</dc:creator>
  <cp:lastModifiedBy>Zong Chen</cp:lastModifiedBy>
  <cp:revision>219</cp:revision>
  <cp:lastPrinted>1601-01-01T00:00:00Z</cp:lastPrinted>
  <dcterms:created xsi:type="dcterms:W3CDTF">2002-08-30T04:05:03Z</dcterms:created>
  <dcterms:modified xsi:type="dcterms:W3CDTF">2024-02-22T16:12:44Z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